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72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goda Dzida" userId="9f7582c9-e569-4130-8996-98f5d917dc30" providerId="ADAL" clId="{F64836B4-02AA-45FB-8CF9-F81B99488514}"/>
    <pc:docChg chg="undo addSld modSld">
      <pc:chgData name="Jagoda Dzida" userId="9f7582c9-e569-4130-8996-98f5d917dc30" providerId="ADAL" clId="{F64836B4-02AA-45FB-8CF9-F81B99488514}" dt="2025-12-17T23:17:00.378" v="218" actId="20577"/>
      <pc:docMkLst>
        <pc:docMk/>
      </pc:docMkLst>
      <pc:sldChg chg="addSp delSp modSp add">
        <pc:chgData name="Jagoda Dzida" userId="9f7582c9-e569-4130-8996-98f5d917dc30" providerId="ADAL" clId="{F64836B4-02AA-45FB-8CF9-F81B99488514}" dt="2025-12-17T23:17:00.378" v="218" actId="20577"/>
        <pc:sldMkLst>
          <pc:docMk/>
          <pc:sldMk cId="536606187" sldId="272"/>
        </pc:sldMkLst>
        <pc:spChg chg="mod">
          <ac:chgData name="Jagoda Dzida" userId="9f7582c9-e569-4130-8996-98f5d917dc30" providerId="ADAL" clId="{F64836B4-02AA-45FB-8CF9-F81B99488514}" dt="2025-12-17T23:08:55.803" v="29" actId="20577"/>
          <ac:spMkLst>
            <pc:docMk/>
            <pc:sldMk cId="536606187" sldId="272"/>
            <ac:spMk id="2" creationId="{7C4564D9-8E48-4288-9FA1-767205A7FA55}"/>
          </ac:spMkLst>
        </pc:spChg>
        <pc:spChg chg="del">
          <ac:chgData name="Jagoda Dzida" userId="9f7582c9-e569-4130-8996-98f5d917dc30" providerId="ADAL" clId="{F64836B4-02AA-45FB-8CF9-F81B99488514}" dt="2025-12-17T23:09:04.770" v="30" actId="3680"/>
          <ac:spMkLst>
            <pc:docMk/>
            <pc:sldMk cId="536606187" sldId="272"/>
            <ac:spMk id="3" creationId="{D2A3DE3F-97B2-45ED-9896-963D217AD7DC}"/>
          </ac:spMkLst>
        </pc:spChg>
        <pc:graphicFrameChg chg="add mod modGraphic">
          <ac:chgData name="Jagoda Dzida" userId="9f7582c9-e569-4130-8996-98f5d917dc30" providerId="ADAL" clId="{F64836B4-02AA-45FB-8CF9-F81B99488514}" dt="2025-12-17T23:17:00.378" v="218" actId="20577"/>
          <ac:graphicFrameMkLst>
            <pc:docMk/>
            <pc:sldMk cId="536606187" sldId="272"/>
            <ac:graphicFrameMk id="4" creationId="{8E5C6AEE-B175-45B5-9212-AAB79F40F0D8}"/>
          </ac:graphicFrameMkLst>
        </pc:graphicFrameChg>
      </pc:sldChg>
    </pc:docChg>
  </pc:docChgLst>
  <pc:docChgLst>
    <pc:chgData name="Jagoda Dzida" userId="9f7582c9-e569-4130-8996-98f5d917dc30" providerId="ADAL" clId="{784EFF66-8E3D-424E-9A41-ADCFB2A44598}"/>
    <pc:docChg chg="undo custSel addSld modSld">
      <pc:chgData name="Jagoda Dzida" userId="9f7582c9-e569-4130-8996-98f5d917dc30" providerId="ADAL" clId="{784EFF66-8E3D-424E-9A41-ADCFB2A44598}" dt="2025-11-30T13:42:27.465" v="158" actId="403"/>
      <pc:docMkLst>
        <pc:docMk/>
      </pc:docMkLst>
      <pc:sldChg chg="modSp add">
        <pc:chgData name="Jagoda Dzida" userId="9f7582c9-e569-4130-8996-98f5d917dc30" providerId="ADAL" clId="{784EFF66-8E3D-424E-9A41-ADCFB2A44598}" dt="2025-11-30T13:36:33.192" v="16" actId="403"/>
        <pc:sldMkLst>
          <pc:docMk/>
          <pc:sldMk cId="1685132448" sldId="262"/>
        </pc:sldMkLst>
        <pc:spChg chg="mod">
          <ac:chgData name="Jagoda Dzida" userId="9f7582c9-e569-4130-8996-98f5d917dc30" providerId="ADAL" clId="{784EFF66-8E3D-424E-9A41-ADCFB2A44598}" dt="2025-11-30T13:36:06.085" v="1"/>
          <ac:spMkLst>
            <pc:docMk/>
            <pc:sldMk cId="1685132448" sldId="262"/>
            <ac:spMk id="2" creationId="{E393720A-DCE4-4056-9A59-8B6B9F2F4E81}"/>
          </ac:spMkLst>
        </pc:spChg>
        <pc:spChg chg="mod">
          <ac:chgData name="Jagoda Dzida" userId="9f7582c9-e569-4130-8996-98f5d917dc30" providerId="ADAL" clId="{784EFF66-8E3D-424E-9A41-ADCFB2A44598}" dt="2025-11-30T13:36:33.192" v="16" actId="403"/>
          <ac:spMkLst>
            <pc:docMk/>
            <pc:sldMk cId="1685132448" sldId="262"/>
            <ac:spMk id="3" creationId="{8B766DFA-7AB5-4186-B6A4-A0761B1B111D}"/>
          </ac:spMkLst>
        </pc:spChg>
      </pc:sldChg>
      <pc:sldChg chg="modSp add">
        <pc:chgData name="Jagoda Dzida" userId="9f7582c9-e569-4130-8996-98f5d917dc30" providerId="ADAL" clId="{784EFF66-8E3D-424E-9A41-ADCFB2A44598}" dt="2025-11-30T13:37:05.414" v="36" actId="14100"/>
        <pc:sldMkLst>
          <pc:docMk/>
          <pc:sldMk cId="2756732518" sldId="263"/>
        </pc:sldMkLst>
        <pc:spChg chg="mod">
          <ac:chgData name="Jagoda Dzida" userId="9f7582c9-e569-4130-8996-98f5d917dc30" providerId="ADAL" clId="{784EFF66-8E3D-424E-9A41-ADCFB2A44598}" dt="2025-11-30T13:36:44.087" v="19" actId="20577"/>
          <ac:spMkLst>
            <pc:docMk/>
            <pc:sldMk cId="2756732518" sldId="263"/>
            <ac:spMk id="2" creationId="{74428930-AB72-440A-AA1A-617A1DF6577B}"/>
          </ac:spMkLst>
        </pc:spChg>
        <pc:spChg chg="mod">
          <ac:chgData name="Jagoda Dzida" userId="9f7582c9-e569-4130-8996-98f5d917dc30" providerId="ADAL" clId="{784EFF66-8E3D-424E-9A41-ADCFB2A44598}" dt="2025-11-30T13:37:05.414" v="36" actId="14100"/>
          <ac:spMkLst>
            <pc:docMk/>
            <pc:sldMk cId="2756732518" sldId="263"/>
            <ac:spMk id="3" creationId="{8FAD7FC6-3B76-4F69-8BA4-23162DE21482}"/>
          </ac:spMkLst>
        </pc:spChg>
      </pc:sldChg>
      <pc:sldChg chg="modSp add">
        <pc:chgData name="Jagoda Dzida" userId="9f7582c9-e569-4130-8996-98f5d917dc30" providerId="ADAL" clId="{784EFF66-8E3D-424E-9A41-ADCFB2A44598}" dt="2025-11-30T13:37:58.347" v="54" actId="403"/>
        <pc:sldMkLst>
          <pc:docMk/>
          <pc:sldMk cId="3367613191" sldId="264"/>
        </pc:sldMkLst>
        <pc:spChg chg="mod">
          <ac:chgData name="Jagoda Dzida" userId="9f7582c9-e569-4130-8996-98f5d917dc30" providerId="ADAL" clId="{784EFF66-8E3D-424E-9A41-ADCFB2A44598}" dt="2025-11-30T13:37:22.282" v="41" actId="20577"/>
          <ac:spMkLst>
            <pc:docMk/>
            <pc:sldMk cId="3367613191" sldId="264"/>
            <ac:spMk id="2" creationId="{C596D3A3-F2C6-41B6-9DCD-3CBEB355CDA2}"/>
          </ac:spMkLst>
        </pc:spChg>
        <pc:spChg chg="mod">
          <ac:chgData name="Jagoda Dzida" userId="9f7582c9-e569-4130-8996-98f5d917dc30" providerId="ADAL" clId="{784EFF66-8E3D-424E-9A41-ADCFB2A44598}" dt="2025-11-30T13:37:58.347" v="54" actId="403"/>
          <ac:spMkLst>
            <pc:docMk/>
            <pc:sldMk cId="3367613191" sldId="264"/>
            <ac:spMk id="3" creationId="{A4A17C5D-36D2-46B7-9B0E-B5FC92577370}"/>
          </ac:spMkLst>
        </pc:spChg>
      </pc:sldChg>
      <pc:sldChg chg="modSp add">
        <pc:chgData name="Jagoda Dzida" userId="9f7582c9-e569-4130-8996-98f5d917dc30" providerId="ADAL" clId="{784EFF66-8E3D-424E-9A41-ADCFB2A44598}" dt="2025-11-30T13:38:38.765" v="77" actId="27636"/>
        <pc:sldMkLst>
          <pc:docMk/>
          <pc:sldMk cId="3041599499" sldId="265"/>
        </pc:sldMkLst>
        <pc:spChg chg="mod">
          <ac:chgData name="Jagoda Dzida" userId="9f7582c9-e569-4130-8996-98f5d917dc30" providerId="ADAL" clId="{784EFF66-8E3D-424E-9A41-ADCFB2A44598}" dt="2025-11-30T13:38:13.127" v="60" actId="14100"/>
          <ac:spMkLst>
            <pc:docMk/>
            <pc:sldMk cId="3041599499" sldId="265"/>
            <ac:spMk id="2" creationId="{49C239BC-8B41-487F-8FD1-16BF2009FF62}"/>
          </ac:spMkLst>
        </pc:spChg>
        <pc:spChg chg="mod">
          <ac:chgData name="Jagoda Dzida" userId="9f7582c9-e569-4130-8996-98f5d917dc30" providerId="ADAL" clId="{784EFF66-8E3D-424E-9A41-ADCFB2A44598}" dt="2025-11-30T13:38:38.765" v="77" actId="27636"/>
          <ac:spMkLst>
            <pc:docMk/>
            <pc:sldMk cId="3041599499" sldId="265"/>
            <ac:spMk id="3" creationId="{94F39E05-C247-4176-8418-A8CA70F9B4F3}"/>
          </ac:spMkLst>
        </pc:spChg>
      </pc:sldChg>
      <pc:sldChg chg="modSp add">
        <pc:chgData name="Jagoda Dzida" userId="9f7582c9-e569-4130-8996-98f5d917dc30" providerId="ADAL" clId="{784EFF66-8E3D-424E-9A41-ADCFB2A44598}" dt="2025-11-30T13:39:08.864" v="90" actId="2710"/>
        <pc:sldMkLst>
          <pc:docMk/>
          <pc:sldMk cId="3227771743" sldId="266"/>
        </pc:sldMkLst>
        <pc:spChg chg="mod">
          <ac:chgData name="Jagoda Dzida" userId="9f7582c9-e569-4130-8996-98f5d917dc30" providerId="ADAL" clId="{784EFF66-8E3D-424E-9A41-ADCFB2A44598}" dt="2025-11-30T13:38:48.384" v="79"/>
          <ac:spMkLst>
            <pc:docMk/>
            <pc:sldMk cId="3227771743" sldId="266"/>
            <ac:spMk id="2" creationId="{0CC7EC88-A666-450A-865B-6E952CBD65F7}"/>
          </ac:spMkLst>
        </pc:spChg>
        <pc:spChg chg="mod">
          <ac:chgData name="Jagoda Dzida" userId="9f7582c9-e569-4130-8996-98f5d917dc30" providerId="ADAL" clId="{784EFF66-8E3D-424E-9A41-ADCFB2A44598}" dt="2025-11-30T13:39:08.864" v="90" actId="2710"/>
          <ac:spMkLst>
            <pc:docMk/>
            <pc:sldMk cId="3227771743" sldId="266"/>
            <ac:spMk id="3" creationId="{AE625DCB-4613-4554-BB3E-B07EEC482526}"/>
          </ac:spMkLst>
        </pc:spChg>
      </pc:sldChg>
      <pc:sldChg chg="modSp add">
        <pc:chgData name="Jagoda Dzida" userId="9f7582c9-e569-4130-8996-98f5d917dc30" providerId="ADAL" clId="{784EFF66-8E3D-424E-9A41-ADCFB2A44598}" dt="2025-11-30T13:39:53.339" v="105" actId="404"/>
        <pc:sldMkLst>
          <pc:docMk/>
          <pc:sldMk cId="3092730425" sldId="267"/>
        </pc:sldMkLst>
        <pc:spChg chg="mod">
          <ac:chgData name="Jagoda Dzida" userId="9f7582c9-e569-4130-8996-98f5d917dc30" providerId="ADAL" clId="{784EFF66-8E3D-424E-9A41-ADCFB2A44598}" dt="2025-11-30T13:39:17.106" v="92"/>
          <ac:spMkLst>
            <pc:docMk/>
            <pc:sldMk cId="3092730425" sldId="267"/>
            <ac:spMk id="2" creationId="{F16F957F-1AE3-42BD-9282-2A7F759030D6}"/>
          </ac:spMkLst>
        </pc:spChg>
        <pc:spChg chg="mod">
          <ac:chgData name="Jagoda Dzida" userId="9f7582c9-e569-4130-8996-98f5d917dc30" providerId="ADAL" clId="{784EFF66-8E3D-424E-9A41-ADCFB2A44598}" dt="2025-11-30T13:39:53.339" v="105" actId="404"/>
          <ac:spMkLst>
            <pc:docMk/>
            <pc:sldMk cId="3092730425" sldId="267"/>
            <ac:spMk id="3" creationId="{27810F28-6357-497D-9A0F-F515C0F4C877}"/>
          </ac:spMkLst>
        </pc:spChg>
      </pc:sldChg>
      <pc:sldChg chg="addSp delSp modSp add">
        <pc:chgData name="Jagoda Dzida" userId="9f7582c9-e569-4130-8996-98f5d917dc30" providerId="ADAL" clId="{784EFF66-8E3D-424E-9A41-ADCFB2A44598}" dt="2025-11-30T13:40:26.289" v="110" actId="478"/>
        <pc:sldMkLst>
          <pc:docMk/>
          <pc:sldMk cId="991026566" sldId="268"/>
        </pc:sldMkLst>
        <pc:spChg chg="del">
          <ac:chgData name="Jagoda Dzida" userId="9f7582c9-e569-4130-8996-98f5d917dc30" providerId="ADAL" clId="{784EFF66-8E3D-424E-9A41-ADCFB2A44598}" dt="2025-11-30T13:40:19.896" v="108"/>
          <ac:spMkLst>
            <pc:docMk/>
            <pc:sldMk cId="991026566" sldId="268"/>
            <ac:spMk id="2" creationId="{E261CD73-48BD-4802-8BB7-5E82B5917681}"/>
          </ac:spMkLst>
        </pc:spChg>
        <pc:spChg chg="del">
          <ac:chgData name="Jagoda Dzida" userId="9f7582c9-e569-4130-8996-98f5d917dc30" providerId="ADAL" clId="{784EFF66-8E3D-424E-9A41-ADCFB2A44598}" dt="2025-11-30T13:40:19.896" v="108"/>
          <ac:spMkLst>
            <pc:docMk/>
            <pc:sldMk cId="991026566" sldId="268"/>
            <ac:spMk id="3" creationId="{1C2921E5-F0FC-4714-835E-F78556232165}"/>
          </ac:spMkLst>
        </pc:spChg>
        <pc:spChg chg="add mod">
          <ac:chgData name="Jagoda Dzida" userId="9f7582c9-e569-4130-8996-98f5d917dc30" providerId="ADAL" clId="{784EFF66-8E3D-424E-9A41-ADCFB2A44598}" dt="2025-11-30T13:40:21.771" v="109"/>
          <ac:spMkLst>
            <pc:docMk/>
            <pc:sldMk cId="991026566" sldId="268"/>
            <ac:spMk id="4" creationId="{DEB409F1-A642-4042-AB40-E5A522925625}"/>
          </ac:spMkLst>
        </pc:spChg>
        <pc:spChg chg="add del mod">
          <ac:chgData name="Jagoda Dzida" userId="9f7582c9-e569-4130-8996-98f5d917dc30" providerId="ADAL" clId="{784EFF66-8E3D-424E-9A41-ADCFB2A44598}" dt="2025-11-30T13:40:26.289" v="110" actId="478"/>
          <ac:spMkLst>
            <pc:docMk/>
            <pc:sldMk cId="991026566" sldId="268"/>
            <ac:spMk id="5" creationId="{CFE4142E-A424-4BD2-BE03-D38CA35662D5}"/>
          </ac:spMkLst>
        </pc:spChg>
      </pc:sldChg>
      <pc:sldChg chg="modSp add">
        <pc:chgData name="Jagoda Dzida" userId="9f7582c9-e569-4130-8996-98f5d917dc30" providerId="ADAL" clId="{784EFF66-8E3D-424E-9A41-ADCFB2A44598}" dt="2025-11-30T13:41:09.026" v="127" actId="2710"/>
        <pc:sldMkLst>
          <pc:docMk/>
          <pc:sldMk cId="2915720982" sldId="269"/>
        </pc:sldMkLst>
        <pc:spChg chg="mod">
          <ac:chgData name="Jagoda Dzida" userId="9f7582c9-e569-4130-8996-98f5d917dc30" providerId="ADAL" clId="{784EFF66-8E3D-424E-9A41-ADCFB2A44598}" dt="2025-11-30T13:40:34.292" v="112" actId="20577"/>
          <ac:spMkLst>
            <pc:docMk/>
            <pc:sldMk cId="2915720982" sldId="269"/>
            <ac:spMk id="2" creationId="{43F31665-FCD2-4E04-A699-7B4B3F464BBC}"/>
          </ac:spMkLst>
        </pc:spChg>
        <pc:spChg chg="mod">
          <ac:chgData name="Jagoda Dzida" userId="9f7582c9-e569-4130-8996-98f5d917dc30" providerId="ADAL" clId="{784EFF66-8E3D-424E-9A41-ADCFB2A44598}" dt="2025-11-30T13:41:09.026" v="127" actId="2710"/>
          <ac:spMkLst>
            <pc:docMk/>
            <pc:sldMk cId="2915720982" sldId="269"/>
            <ac:spMk id="3" creationId="{1F33C627-92EF-4A68-B285-C11E795B316D}"/>
          </ac:spMkLst>
        </pc:spChg>
      </pc:sldChg>
      <pc:sldChg chg="modSp add">
        <pc:chgData name="Jagoda Dzida" userId="9f7582c9-e569-4130-8996-98f5d917dc30" providerId="ADAL" clId="{784EFF66-8E3D-424E-9A41-ADCFB2A44598}" dt="2025-11-30T13:41:50.617" v="142" actId="14100"/>
        <pc:sldMkLst>
          <pc:docMk/>
          <pc:sldMk cId="568748456" sldId="270"/>
        </pc:sldMkLst>
        <pc:spChg chg="mod">
          <ac:chgData name="Jagoda Dzida" userId="9f7582c9-e569-4130-8996-98f5d917dc30" providerId="ADAL" clId="{784EFF66-8E3D-424E-9A41-ADCFB2A44598}" dt="2025-11-30T13:41:23.410" v="132" actId="6549"/>
          <ac:spMkLst>
            <pc:docMk/>
            <pc:sldMk cId="568748456" sldId="270"/>
            <ac:spMk id="2" creationId="{35A999EB-F75B-4FE1-A570-8E4DC5974A65}"/>
          </ac:spMkLst>
        </pc:spChg>
        <pc:spChg chg="mod">
          <ac:chgData name="Jagoda Dzida" userId="9f7582c9-e569-4130-8996-98f5d917dc30" providerId="ADAL" clId="{784EFF66-8E3D-424E-9A41-ADCFB2A44598}" dt="2025-11-30T13:41:50.617" v="142" actId="14100"/>
          <ac:spMkLst>
            <pc:docMk/>
            <pc:sldMk cId="568748456" sldId="270"/>
            <ac:spMk id="3" creationId="{F64E258A-632E-4E2E-9888-BE7F3E12B5C6}"/>
          </ac:spMkLst>
        </pc:spChg>
      </pc:sldChg>
      <pc:sldChg chg="modSp add">
        <pc:chgData name="Jagoda Dzida" userId="9f7582c9-e569-4130-8996-98f5d917dc30" providerId="ADAL" clId="{784EFF66-8E3D-424E-9A41-ADCFB2A44598}" dt="2025-11-30T13:42:27.465" v="158" actId="403"/>
        <pc:sldMkLst>
          <pc:docMk/>
          <pc:sldMk cId="208704914" sldId="271"/>
        </pc:sldMkLst>
        <pc:spChg chg="mod">
          <ac:chgData name="Jagoda Dzida" userId="9f7582c9-e569-4130-8996-98f5d917dc30" providerId="ADAL" clId="{784EFF66-8E3D-424E-9A41-ADCFB2A44598}" dt="2025-11-30T13:42:01.195" v="146"/>
          <ac:spMkLst>
            <pc:docMk/>
            <pc:sldMk cId="208704914" sldId="271"/>
            <ac:spMk id="2" creationId="{ED3190FE-FD90-4110-B5AB-248D2EBAC414}"/>
          </ac:spMkLst>
        </pc:spChg>
        <pc:spChg chg="mod">
          <ac:chgData name="Jagoda Dzida" userId="9f7582c9-e569-4130-8996-98f5d917dc30" providerId="ADAL" clId="{784EFF66-8E3D-424E-9A41-ADCFB2A44598}" dt="2025-11-30T13:42:27.465" v="158" actId="403"/>
          <ac:spMkLst>
            <pc:docMk/>
            <pc:sldMk cId="208704914" sldId="271"/>
            <ac:spMk id="3" creationId="{995E91D2-467A-4D9A-B419-DEF138CA565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 obraz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5B53436-4608-420D-A0F4-AAEEDDA97A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Szkolenie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A2FA569-0383-4BDF-83B7-7A942AC6BA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 err="1"/>
              <a:t>Prompty</a:t>
            </a:r>
            <a:r>
              <a:rPr lang="pl-PL" dirty="0"/>
              <a:t>, AI i ich wykorzystanie w pracach dyplomowych</a:t>
            </a:r>
          </a:p>
        </p:txBody>
      </p:sp>
    </p:spTree>
    <p:extLst>
      <p:ext uri="{BB962C8B-B14F-4D97-AF65-F5344CB8AC3E}">
        <p14:creationId xmlns:p14="http://schemas.microsoft.com/office/powerpoint/2010/main" val="2904631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18434CF-17B8-46FD-9727-6DDE96BD7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Warsztat ROCKET i ćwiczenia z </a:t>
            </a:r>
            <a:r>
              <a:rPr lang="pl-PL" dirty="0" err="1"/>
              <a:t>prompt</a:t>
            </a:r>
            <a:r>
              <a:rPr lang="pl-PL" dirty="0"/>
              <a:t> engineering dla studentów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354088F-2EE6-49C8-88FD-6D00C17D5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887" y="2603499"/>
            <a:ext cx="11272058" cy="3946929"/>
          </a:xfrm>
        </p:spPr>
        <p:txBody>
          <a:bodyPr>
            <a:normAutofit/>
          </a:bodyPr>
          <a:lstStyle/>
          <a:p>
            <a:r>
              <a:rPr lang="pl-PL" sz="2800" dirty="0"/>
              <a:t>Cele szkolenia:</a:t>
            </a:r>
          </a:p>
          <a:p>
            <a:pPr lvl="1"/>
            <a:r>
              <a:rPr lang="pl-PL" sz="2400" dirty="0"/>
              <a:t>Nauczyć studentów formułowania odtwarzalnych, etycznych i bezpiecznych </a:t>
            </a:r>
            <a:r>
              <a:rPr lang="pl-PL" sz="2400" dirty="0" err="1"/>
              <a:t>promptów</a:t>
            </a:r>
            <a:r>
              <a:rPr lang="pl-PL" sz="2400" dirty="0"/>
              <a:t>.</a:t>
            </a:r>
          </a:p>
          <a:p>
            <a:pPr lvl="1"/>
            <a:r>
              <a:rPr lang="pl-PL" sz="2400" dirty="0"/>
              <a:t>Zwiększyć transparentność użycia SI w pracach dyplomowych.</a:t>
            </a:r>
          </a:p>
          <a:p>
            <a:pPr lvl="1"/>
            <a:r>
              <a:rPr lang="pl-PL" sz="2400" dirty="0"/>
              <a:t>Wyposażyć promotorów w praktyczne narzędzia do oceny i weryfikacji.</a:t>
            </a:r>
          </a:p>
          <a:p>
            <a:endParaRPr lang="pl-PL" sz="2800" dirty="0"/>
          </a:p>
        </p:txBody>
      </p:sp>
    </p:spTree>
    <p:extLst>
      <p:ext uri="{BB962C8B-B14F-4D97-AF65-F5344CB8AC3E}">
        <p14:creationId xmlns:p14="http://schemas.microsoft.com/office/powerpoint/2010/main" val="3987731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BBB4880-8F3A-4F3A-BF2C-0E6AB8BD6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Plan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B42EE0D-FED9-48A5-81C7-C51265DDC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524" y="2510444"/>
            <a:ext cx="10972800" cy="3890356"/>
          </a:xfrm>
        </p:spPr>
        <p:txBody>
          <a:bodyPr/>
          <a:lstStyle/>
          <a:p>
            <a:r>
              <a:rPr lang="pl-PL" dirty="0"/>
              <a:t>1. Wprowadzenie — dlaczego </a:t>
            </a:r>
            <a:r>
              <a:rPr lang="pl-PL" dirty="0" err="1"/>
              <a:t>prompt</a:t>
            </a:r>
            <a:r>
              <a:rPr lang="pl-PL" dirty="0"/>
              <a:t> engineering ma znaczenie w pracach dyplomowych.</a:t>
            </a:r>
          </a:p>
          <a:p>
            <a:r>
              <a:rPr lang="pl-PL" dirty="0"/>
              <a:t>2. Zasady etyczne i RODO — co wolno, czego unikać.</a:t>
            </a:r>
          </a:p>
          <a:p>
            <a:r>
              <a:rPr lang="pl-PL" dirty="0"/>
              <a:t>3. Rama ROCKET — omówienie elementów i przykładów.</a:t>
            </a:r>
          </a:p>
          <a:p>
            <a:r>
              <a:rPr lang="pl-PL" dirty="0"/>
              <a:t>4. Szablony </a:t>
            </a:r>
            <a:r>
              <a:rPr lang="pl-PL" dirty="0" err="1"/>
              <a:t>promptów</a:t>
            </a:r>
            <a:r>
              <a:rPr lang="pl-PL" dirty="0"/>
              <a:t> — korekta, kod, wyszukiwanie literatury, analiza danych.</a:t>
            </a:r>
          </a:p>
          <a:p>
            <a:r>
              <a:rPr lang="pl-PL" dirty="0"/>
              <a:t>5. Ćwiczenia praktyczne — zadania grupowe i indywidualne.</a:t>
            </a:r>
          </a:p>
          <a:p>
            <a:r>
              <a:rPr lang="pl-PL" dirty="0"/>
              <a:t>6. Ocena i dokumentacja — jak weryfikować i oceniać </a:t>
            </a:r>
            <a:r>
              <a:rPr lang="pl-PL" dirty="0" err="1"/>
              <a:t>prompty</a:t>
            </a:r>
            <a:r>
              <a:rPr lang="pl-PL" dirty="0"/>
              <a:t>.</a:t>
            </a:r>
          </a:p>
          <a:p>
            <a:r>
              <a:rPr lang="pl-PL" dirty="0"/>
              <a:t>7. Q&amp;A i zasoby — wzory załączników, </a:t>
            </a:r>
            <a:r>
              <a:rPr lang="pl-PL" dirty="0" err="1"/>
              <a:t>checklisty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2728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978730-7FB5-4892-9E82-BA41E645B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Prompt</a:t>
            </a:r>
            <a:r>
              <a:rPr lang="pl-PL" dirty="0"/>
              <a:t> engineering w pracach dyplomowych — praktyczny warsztat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724A06D-F819-48D5-98A0-89FA4191D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2800" dirty="0"/>
              <a:t>Cele: </a:t>
            </a:r>
          </a:p>
          <a:p>
            <a:pPr lvl="1"/>
            <a:r>
              <a:rPr lang="pl-PL" sz="2400" dirty="0"/>
              <a:t>zrozumienie ROCKET; </a:t>
            </a:r>
          </a:p>
          <a:p>
            <a:pPr lvl="1"/>
            <a:r>
              <a:rPr lang="pl-PL" sz="2400" dirty="0"/>
              <a:t>tworzenie odtwarzalnych </a:t>
            </a:r>
            <a:r>
              <a:rPr lang="pl-PL" sz="2400" dirty="0" err="1"/>
              <a:t>promptów</a:t>
            </a:r>
            <a:r>
              <a:rPr lang="pl-PL" sz="2400" dirty="0"/>
              <a:t>; </a:t>
            </a:r>
          </a:p>
          <a:p>
            <a:pPr lvl="1"/>
            <a:r>
              <a:rPr lang="pl-PL" sz="2400" dirty="0"/>
              <a:t>zasady dokumentacji.</a:t>
            </a:r>
          </a:p>
          <a:p>
            <a:endParaRPr lang="pl-PL" sz="2800" dirty="0"/>
          </a:p>
        </p:txBody>
      </p:sp>
    </p:spTree>
    <p:extLst>
      <p:ext uri="{BB962C8B-B14F-4D97-AF65-F5344CB8AC3E}">
        <p14:creationId xmlns:p14="http://schemas.microsoft.com/office/powerpoint/2010/main" val="2770996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9A3C2C9-158F-43E8-A146-8F1306668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Dlaczego jest to istotne?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91E4ECD-563C-4582-BD78-920AAF2C7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2800" dirty="0"/>
              <a:t>powtarzalność wyników; </a:t>
            </a:r>
          </a:p>
          <a:p>
            <a:r>
              <a:rPr lang="pl-PL" sz="2800" dirty="0"/>
              <a:t>ocena wkładu własnego; </a:t>
            </a:r>
          </a:p>
          <a:p>
            <a:r>
              <a:rPr lang="pl-PL" sz="2800" dirty="0"/>
              <a:t>minimalizacja błędów merytorycznych; </a:t>
            </a:r>
          </a:p>
          <a:p>
            <a:r>
              <a:rPr lang="pl-PL" sz="2800" dirty="0"/>
              <a:t>zgodność z wytycznymi uczelni</a:t>
            </a:r>
          </a:p>
        </p:txBody>
      </p:sp>
    </p:spTree>
    <p:extLst>
      <p:ext uri="{BB962C8B-B14F-4D97-AF65-F5344CB8AC3E}">
        <p14:creationId xmlns:p14="http://schemas.microsoft.com/office/powerpoint/2010/main" val="3806503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DC20EF2-F7D3-4B0A-8A54-C481B60D7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Zasady etyczne i RODO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879AFD1-A566-493F-A683-567C0623B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2800" dirty="0"/>
              <a:t>nie wprowadzać danych osobowych; </a:t>
            </a:r>
          </a:p>
          <a:p>
            <a:r>
              <a:rPr lang="pl-PL" sz="2800" dirty="0"/>
              <a:t>weryfikować źródła; </a:t>
            </a:r>
          </a:p>
          <a:p>
            <a:r>
              <a:rPr lang="pl-PL" sz="2800" dirty="0"/>
              <a:t>dokumentować użycie; </a:t>
            </a:r>
          </a:p>
          <a:p>
            <a:r>
              <a:rPr lang="pl-PL" sz="2800" dirty="0"/>
              <a:t>uzyskać zgodę promotora</a:t>
            </a:r>
          </a:p>
        </p:txBody>
      </p:sp>
    </p:spTree>
    <p:extLst>
      <p:ext uri="{BB962C8B-B14F-4D97-AF65-F5344CB8AC3E}">
        <p14:creationId xmlns:p14="http://schemas.microsoft.com/office/powerpoint/2010/main" val="109373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393720A-DCE4-4056-9A59-8B6B9F2F4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Rama ROCKET — skrót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B766DFA-7AB5-4186-B6A4-A0761B1B1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980180"/>
          </a:xfrm>
        </p:spPr>
        <p:txBody>
          <a:bodyPr>
            <a:normAutofit/>
          </a:bodyPr>
          <a:lstStyle/>
          <a:p>
            <a:r>
              <a:rPr lang="pl-PL" sz="2800" dirty="0"/>
              <a:t>R: Role</a:t>
            </a:r>
          </a:p>
          <a:p>
            <a:r>
              <a:rPr lang="pl-PL" sz="2800" dirty="0"/>
              <a:t>O: </a:t>
            </a:r>
            <a:r>
              <a:rPr lang="pl-PL" sz="2800" dirty="0" err="1"/>
              <a:t>Objective</a:t>
            </a:r>
            <a:endParaRPr lang="pl-PL" sz="2800" dirty="0"/>
          </a:p>
          <a:p>
            <a:r>
              <a:rPr lang="pl-PL" sz="2800" dirty="0"/>
              <a:t>C: </a:t>
            </a:r>
            <a:r>
              <a:rPr lang="pl-PL" sz="2800" dirty="0" err="1"/>
              <a:t>Context</a:t>
            </a:r>
            <a:endParaRPr lang="pl-PL" sz="2800" dirty="0"/>
          </a:p>
          <a:p>
            <a:r>
              <a:rPr lang="pl-PL" sz="2800" dirty="0"/>
              <a:t>K: Knowledge</a:t>
            </a:r>
          </a:p>
          <a:p>
            <a:r>
              <a:rPr lang="pl-PL" sz="2800" dirty="0"/>
              <a:t>E: </a:t>
            </a:r>
            <a:r>
              <a:rPr lang="pl-PL" sz="2800" dirty="0" err="1"/>
              <a:t>Examples</a:t>
            </a:r>
            <a:endParaRPr lang="pl-PL" sz="2800" dirty="0"/>
          </a:p>
          <a:p>
            <a:r>
              <a:rPr lang="pl-PL" sz="2800" dirty="0"/>
              <a:t>T: Tone and </a:t>
            </a:r>
            <a:r>
              <a:rPr lang="pl-PL" sz="2800" dirty="0" err="1"/>
              <a:t>constraints</a:t>
            </a:r>
            <a:endParaRPr lang="pl-PL" sz="2800" dirty="0"/>
          </a:p>
          <a:p>
            <a:endParaRPr lang="pl-PL" sz="2800" dirty="0"/>
          </a:p>
        </p:txBody>
      </p:sp>
    </p:spTree>
    <p:extLst>
      <p:ext uri="{BB962C8B-B14F-4D97-AF65-F5344CB8AC3E}">
        <p14:creationId xmlns:p14="http://schemas.microsoft.com/office/powerpoint/2010/main" val="1685132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4428930-AB72-440A-AA1A-617A1DF65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ROCKET szczegóły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FAD7FC6-3B76-4F69-8BA4-23162DE21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9452086" cy="3780675"/>
          </a:xfrm>
        </p:spPr>
        <p:txBody>
          <a:bodyPr>
            <a:normAutofit/>
          </a:bodyPr>
          <a:lstStyle/>
          <a:p>
            <a:r>
              <a:rPr lang="pl-PL" sz="2400" dirty="0"/>
              <a:t>Role: określ, jaką rolę ma pełnić model (np. redaktor naukowy).</a:t>
            </a:r>
          </a:p>
          <a:p>
            <a:r>
              <a:rPr lang="pl-PL" sz="2400" dirty="0" err="1"/>
              <a:t>Objective</a:t>
            </a:r>
            <a:r>
              <a:rPr lang="pl-PL" sz="2400" dirty="0"/>
              <a:t>: konkretny cel (np. skrócić do 120 słów).</a:t>
            </a:r>
          </a:p>
          <a:p>
            <a:r>
              <a:rPr lang="pl-PL" sz="2400" dirty="0" err="1"/>
              <a:t>Context</a:t>
            </a:r>
            <a:r>
              <a:rPr lang="pl-PL" sz="2400" dirty="0"/>
              <a:t>: dostarcz fragmenty, hipotezy, dane.</a:t>
            </a:r>
          </a:p>
          <a:p>
            <a:r>
              <a:rPr lang="pl-PL" sz="2400" dirty="0"/>
              <a:t>Knowledge: ograniczenia merytoryczne, zakres literatury.</a:t>
            </a:r>
          </a:p>
          <a:p>
            <a:r>
              <a:rPr lang="pl-PL" sz="2400" dirty="0" err="1"/>
              <a:t>Examples</a:t>
            </a:r>
            <a:r>
              <a:rPr lang="pl-PL" sz="2400" dirty="0"/>
              <a:t>: wzór oczekiwanego wyniku.</a:t>
            </a:r>
          </a:p>
          <a:p>
            <a:r>
              <a:rPr lang="pl-PL" sz="2400" dirty="0"/>
              <a:t>Tone and </a:t>
            </a:r>
            <a:r>
              <a:rPr lang="pl-PL" sz="2400" dirty="0" err="1"/>
              <a:t>constraints</a:t>
            </a:r>
            <a:r>
              <a:rPr lang="pl-PL" sz="2400" dirty="0"/>
              <a:t>: styl, długość, zakazy.</a:t>
            </a:r>
          </a:p>
          <a:p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2756732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596D3A3-F2C6-41B6-9DCD-3CBEB355C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Szablony </a:t>
            </a:r>
            <a:r>
              <a:rPr lang="pl-PL" dirty="0" err="1"/>
              <a:t>promptów</a:t>
            </a:r>
            <a:r>
              <a:rPr lang="pl-PL" dirty="0"/>
              <a:t> - korekta</a:t>
            </a:r>
            <a:endParaRPr lang="pl-PL" b="1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4A17C5D-36D2-46B7-9B0E-B5FC92577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2603499"/>
            <a:ext cx="11205556" cy="3996805"/>
          </a:xfrm>
        </p:spPr>
        <p:txBody>
          <a:bodyPr>
            <a:normAutofit/>
          </a:bodyPr>
          <a:lstStyle/>
          <a:p>
            <a:r>
              <a:rPr lang="pl-PL" sz="2400" dirty="0"/>
              <a:t>Szablon: </a:t>
            </a:r>
          </a:p>
          <a:p>
            <a:pPr lvl="1"/>
            <a:r>
              <a:rPr lang="pl-PL" sz="2000" dirty="0"/>
              <a:t>Role: redaktor akademicki; </a:t>
            </a:r>
          </a:p>
          <a:p>
            <a:pPr lvl="1"/>
            <a:r>
              <a:rPr lang="pl-PL" sz="2000" dirty="0" err="1"/>
              <a:t>Objective</a:t>
            </a:r>
            <a:r>
              <a:rPr lang="pl-PL" sz="2000" dirty="0"/>
              <a:t>: popraw błędy; </a:t>
            </a:r>
          </a:p>
          <a:p>
            <a:pPr lvl="1"/>
            <a:r>
              <a:rPr lang="pl-PL" sz="2000" dirty="0" err="1"/>
              <a:t>Context</a:t>
            </a:r>
            <a:r>
              <a:rPr lang="pl-PL" sz="2000" dirty="0"/>
              <a:t>: [akapit]; </a:t>
            </a:r>
          </a:p>
          <a:p>
            <a:pPr lvl="1"/>
            <a:r>
              <a:rPr lang="pl-PL" sz="2000" dirty="0" err="1"/>
              <a:t>Constraints</a:t>
            </a:r>
            <a:r>
              <a:rPr lang="pl-PL" sz="2000" dirty="0"/>
              <a:t>: nie zmieniaj treści merytorycznej; Tone: formalny.</a:t>
            </a:r>
          </a:p>
          <a:p>
            <a:r>
              <a:rPr lang="pl-PL" sz="2400" dirty="0"/>
              <a:t>Przykład: „Zachowaj się jak redaktor akademicki. Popraw błędy gramatyczne i stylistyczne w poniższym akapicie, nie zmieniając treści merytorycznej. Zachowaj formalny styl.”</a:t>
            </a:r>
          </a:p>
        </p:txBody>
      </p:sp>
    </p:spTree>
    <p:extLst>
      <p:ext uri="{BB962C8B-B14F-4D97-AF65-F5344CB8AC3E}">
        <p14:creationId xmlns:p14="http://schemas.microsoft.com/office/powerpoint/2010/main" val="3367613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9C239BC-8B41-487F-8FD1-16BF2009F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142" y="973668"/>
            <a:ext cx="10075025" cy="706964"/>
          </a:xfrm>
        </p:spPr>
        <p:txBody>
          <a:bodyPr/>
          <a:lstStyle/>
          <a:p>
            <a:r>
              <a:rPr lang="pl-PL" dirty="0"/>
              <a:t>Szablony </a:t>
            </a:r>
            <a:r>
              <a:rPr lang="pl-PL" dirty="0" err="1"/>
              <a:t>promptów</a:t>
            </a:r>
            <a:r>
              <a:rPr lang="pl-PL" dirty="0"/>
              <a:t> - wyszukiwanie literatury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4F39E05-C247-4176-8418-A8CA70F9B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386" y="2603500"/>
            <a:ext cx="11238808" cy="3847176"/>
          </a:xfrm>
        </p:spPr>
        <p:txBody>
          <a:bodyPr>
            <a:normAutofit fontScale="92500"/>
          </a:bodyPr>
          <a:lstStyle/>
          <a:p>
            <a:r>
              <a:rPr lang="pl-PL" sz="2400" dirty="0"/>
              <a:t>Szablon: </a:t>
            </a:r>
          </a:p>
          <a:p>
            <a:pPr lvl="1"/>
            <a:r>
              <a:rPr lang="pl-PL" sz="2000" dirty="0"/>
              <a:t>Role: asystent bibliograficzny; </a:t>
            </a:r>
          </a:p>
          <a:p>
            <a:pPr lvl="1"/>
            <a:r>
              <a:rPr lang="pl-PL" sz="2000" dirty="0" err="1"/>
              <a:t>Objective</a:t>
            </a:r>
            <a:r>
              <a:rPr lang="pl-PL" sz="2000" dirty="0"/>
              <a:t>: lista artykułów; </a:t>
            </a:r>
          </a:p>
          <a:p>
            <a:pPr lvl="1"/>
            <a:r>
              <a:rPr lang="pl-PL" sz="2000" dirty="0" err="1"/>
              <a:t>Context</a:t>
            </a:r>
            <a:r>
              <a:rPr lang="pl-PL" sz="2000" dirty="0"/>
              <a:t>: temat i zakres czasowy; </a:t>
            </a:r>
          </a:p>
          <a:p>
            <a:pPr lvl="1"/>
            <a:r>
              <a:rPr lang="pl-PL" sz="2000" dirty="0"/>
              <a:t>Knowledge: preferowane bazy; </a:t>
            </a:r>
          </a:p>
          <a:p>
            <a:pPr lvl="1"/>
            <a:r>
              <a:rPr lang="pl-PL" sz="2000" dirty="0" err="1"/>
              <a:t>Constraints</a:t>
            </a:r>
            <a:r>
              <a:rPr lang="pl-PL" sz="2000" dirty="0"/>
              <a:t>: podaj DOI.</a:t>
            </a:r>
          </a:p>
          <a:p>
            <a:r>
              <a:rPr lang="pl-PL" sz="2400" dirty="0"/>
              <a:t>Przykład: „Jako asystent bibliograficzny, podaj 10 recenzowanych artykułów o wpływie mediów społecznościowych na zdrowie psychiczne z lat 2019–2024; podaj DOI i krótkie uzasadnienie przydatności każdego źródła.”</a:t>
            </a:r>
          </a:p>
        </p:txBody>
      </p:sp>
    </p:spTree>
    <p:extLst>
      <p:ext uri="{BB962C8B-B14F-4D97-AF65-F5344CB8AC3E}">
        <p14:creationId xmlns:p14="http://schemas.microsoft.com/office/powerpoint/2010/main" val="3041599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CC7EC88-A666-450A-865B-6E952CBD6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Ćwiczenia praktyczne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E625DCB-4613-4554-BB3E-B07EEC482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67" y="2603499"/>
            <a:ext cx="10474037" cy="396355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2400" dirty="0"/>
              <a:t>Zadanie 1: korekta akapitu z użyciem ROCKET; porównaj 3 wersje </a:t>
            </a:r>
            <a:r>
              <a:rPr lang="pl-PL" sz="2400" dirty="0" err="1"/>
              <a:t>promptów</a:t>
            </a:r>
            <a:r>
              <a:rPr lang="pl-PL" sz="2400" dirty="0"/>
              <a:t>.</a:t>
            </a:r>
          </a:p>
          <a:p>
            <a:pPr>
              <a:lnSpc>
                <a:spcPct val="150000"/>
              </a:lnSpc>
            </a:pPr>
            <a:r>
              <a:rPr lang="pl-PL" sz="2400" dirty="0"/>
              <a:t>Zadanie 2: wygeneruj fragment kodu, przetestuj i opisz poprawki.</a:t>
            </a:r>
          </a:p>
          <a:p>
            <a:pPr>
              <a:lnSpc>
                <a:spcPct val="150000"/>
              </a:lnSpc>
            </a:pPr>
            <a:r>
              <a:rPr lang="pl-PL" sz="2400" dirty="0"/>
              <a:t>Zadanie 3: poproś o listę 8 artykułów, zweryfikuj źródła w bazach naukowych.</a:t>
            </a:r>
          </a:p>
          <a:p>
            <a:pPr>
              <a:lnSpc>
                <a:spcPct val="150000"/>
              </a:lnSpc>
            </a:pPr>
            <a:endParaRPr lang="pl-PL" sz="2400" dirty="0"/>
          </a:p>
        </p:txBody>
      </p:sp>
    </p:spTree>
    <p:extLst>
      <p:ext uri="{BB962C8B-B14F-4D97-AF65-F5344CB8AC3E}">
        <p14:creationId xmlns:p14="http://schemas.microsoft.com/office/powerpoint/2010/main" val="3227771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16F957F-1AE3-42BD-9282-2A7F75903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Ocena i dokumentacja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7810F28-6357-497D-9A0F-F515C0F4C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2926080"/>
            <a:ext cx="10806545" cy="309372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pl-PL" sz="2800" dirty="0"/>
              <a:t>co powinien zawierać załącznik „Wykorzystanie SI”;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pl-PL" sz="2800" dirty="0"/>
              <a:t>rubryka oceny </a:t>
            </a:r>
            <a:r>
              <a:rPr lang="pl-PL" sz="2800" dirty="0" err="1"/>
              <a:t>promptów</a:t>
            </a:r>
            <a:r>
              <a:rPr lang="pl-PL" sz="2800" dirty="0"/>
              <a:t>;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pl-PL" sz="2800" dirty="0"/>
              <a:t>archiwizacja</a:t>
            </a:r>
          </a:p>
        </p:txBody>
      </p:sp>
    </p:spTree>
    <p:extLst>
      <p:ext uri="{BB962C8B-B14F-4D97-AF65-F5344CB8AC3E}">
        <p14:creationId xmlns:p14="http://schemas.microsoft.com/office/powerpoint/2010/main" val="3092730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C4564D9-8E48-4288-9FA1-767205A7F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danych w załączniku </a:t>
            </a:r>
          </a:p>
        </p:txBody>
      </p:sp>
      <p:graphicFrame>
        <p:nvGraphicFramePr>
          <p:cNvPr id="4" name="Symbol zastępczy zawartości 3">
            <a:extLst>
              <a:ext uri="{FF2B5EF4-FFF2-40B4-BE49-F238E27FC236}">
                <a16:creationId xmlns:a16="http://schemas.microsoft.com/office/drawing/2014/main" id="{8E5C6AEE-B175-45B5-9212-AAB79F40F0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9897139"/>
              </p:ext>
            </p:extLst>
          </p:nvPr>
        </p:nvGraphicFramePr>
        <p:xfrm>
          <a:off x="931764" y="2885451"/>
          <a:ext cx="9542830" cy="1814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983">
                  <a:extLst>
                    <a:ext uri="{9D8B030D-6E8A-4147-A177-3AD203B41FA5}">
                      <a16:colId xmlns:a16="http://schemas.microsoft.com/office/drawing/2014/main" val="1893272626"/>
                    </a:ext>
                  </a:extLst>
                </a:gridCol>
                <a:gridCol w="818875">
                  <a:extLst>
                    <a:ext uri="{9D8B030D-6E8A-4147-A177-3AD203B41FA5}">
                      <a16:colId xmlns:a16="http://schemas.microsoft.com/office/drawing/2014/main" val="4059184203"/>
                    </a:ext>
                  </a:extLst>
                </a:gridCol>
                <a:gridCol w="818875">
                  <a:extLst>
                    <a:ext uri="{9D8B030D-6E8A-4147-A177-3AD203B41FA5}">
                      <a16:colId xmlns:a16="http://schemas.microsoft.com/office/drawing/2014/main" val="2517946393"/>
                    </a:ext>
                  </a:extLst>
                </a:gridCol>
                <a:gridCol w="1757169">
                  <a:extLst>
                    <a:ext uri="{9D8B030D-6E8A-4147-A177-3AD203B41FA5}">
                      <a16:colId xmlns:a16="http://schemas.microsoft.com/office/drawing/2014/main" val="2559714759"/>
                    </a:ext>
                  </a:extLst>
                </a:gridCol>
                <a:gridCol w="1688929">
                  <a:extLst>
                    <a:ext uri="{9D8B030D-6E8A-4147-A177-3AD203B41FA5}">
                      <a16:colId xmlns:a16="http://schemas.microsoft.com/office/drawing/2014/main" val="2486342634"/>
                    </a:ext>
                  </a:extLst>
                </a:gridCol>
                <a:gridCol w="1270962">
                  <a:extLst>
                    <a:ext uri="{9D8B030D-6E8A-4147-A177-3AD203B41FA5}">
                      <a16:colId xmlns:a16="http://schemas.microsoft.com/office/drawing/2014/main" val="408139047"/>
                    </a:ext>
                  </a:extLst>
                </a:gridCol>
                <a:gridCol w="1381851">
                  <a:extLst>
                    <a:ext uri="{9D8B030D-6E8A-4147-A177-3AD203B41FA5}">
                      <a16:colId xmlns:a16="http://schemas.microsoft.com/office/drawing/2014/main" val="1415125719"/>
                    </a:ext>
                  </a:extLst>
                </a:gridCol>
                <a:gridCol w="1293186">
                  <a:extLst>
                    <a:ext uri="{9D8B030D-6E8A-4147-A177-3AD203B41FA5}">
                      <a16:colId xmlns:a16="http://schemas.microsoft.com/office/drawing/2014/main" val="1941306567"/>
                    </a:ext>
                  </a:extLst>
                </a:gridCol>
              </a:tblGrid>
              <a:tr h="828133">
                <a:tc>
                  <a:txBody>
                    <a:bodyPr/>
                    <a:lstStyle/>
                    <a:p>
                      <a:pPr algn="ctr"/>
                      <a:r>
                        <a:rPr lang="pl-PL" sz="1400" dirty="0"/>
                        <a:t>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400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400" dirty="0"/>
                        <a:t>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400" dirty="0" err="1"/>
                        <a:t>Prompt</a:t>
                      </a:r>
                      <a:r>
                        <a:rPr lang="pl-PL" sz="1400" dirty="0"/>
                        <a:t> </a:t>
                      </a:r>
                    </a:p>
                    <a:p>
                      <a:pPr algn="ctr"/>
                      <a:r>
                        <a:rPr lang="pl-PL" sz="1400" dirty="0"/>
                        <a:t>(polecenie do AI)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400" dirty="0"/>
                        <a:t>Odpowiedź AI (skrót/fragment)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400" dirty="0"/>
                        <a:t>Fragment pracy, w którym użyto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400" dirty="0"/>
                        <a:t>Status (oznaczony/</a:t>
                      </a:r>
                    </a:p>
                    <a:p>
                      <a:pPr algn="ctr"/>
                      <a:r>
                        <a:rPr lang="pl-PL" sz="1400" dirty="0"/>
                        <a:t>nieoznaczony)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400" dirty="0"/>
                        <a:t>Zgoda promotora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234542"/>
                  </a:ext>
                </a:extLst>
              </a:tr>
              <a:tr h="434885"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369798"/>
                  </a:ext>
                </a:extLst>
              </a:tr>
              <a:tr h="434885"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9657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6606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DEB409F1-A642-4042-AB40-E5A522925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Zestaw ćwiczeń z instrukcjami i oczekiwanymi rezultatami</a:t>
            </a:r>
          </a:p>
        </p:txBody>
      </p:sp>
    </p:spTree>
    <p:extLst>
      <p:ext uri="{BB962C8B-B14F-4D97-AF65-F5344CB8AC3E}">
        <p14:creationId xmlns:p14="http://schemas.microsoft.com/office/powerpoint/2010/main" val="991026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3F31665-FCD2-4E04-A699-7B4B3F464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Ćwiczenie A Korekta akademicka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F33C627-92EF-4A68-B285-C11E795B3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888" y="2603499"/>
            <a:ext cx="11055928" cy="396355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pl-PL" dirty="0"/>
              <a:t>Instrukcja: </a:t>
            </a:r>
          </a:p>
          <a:p>
            <a:pPr lvl="1">
              <a:lnSpc>
                <a:spcPct val="150000"/>
              </a:lnSpc>
            </a:pPr>
            <a:r>
              <a:rPr lang="pl-PL" dirty="0"/>
              <a:t>wybierz akapit z własnej pracy; </a:t>
            </a:r>
          </a:p>
          <a:p>
            <a:pPr lvl="1">
              <a:lnSpc>
                <a:spcPct val="150000"/>
              </a:lnSpc>
            </a:pPr>
            <a:r>
              <a:rPr lang="pl-PL" dirty="0"/>
              <a:t>sformułuj </a:t>
            </a:r>
            <a:r>
              <a:rPr lang="pl-PL" dirty="0" err="1"/>
              <a:t>prompt</a:t>
            </a:r>
            <a:r>
              <a:rPr lang="pl-PL" dirty="0"/>
              <a:t> według ROCKET; </a:t>
            </a:r>
          </a:p>
          <a:p>
            <a:pPr lvl="1">
              <a:lnSpc>
                <a:spcPct val="150000"/>
              </a:lnSpc>
            </a:pPr>
            <a:r>
              <a:rPr lang="pl-PL" dirty="0"/>
              <a:t>wygeneruj poprawkę; </a:t>
            </a:r>
          </a:p>
          <a:p>
            <a:pPr lvl="1">
              <a:lnSpc>
                <a:spcPct val="150000"/>
              </a:lnSpc>
            </a:pPr>
            <a:r>
              <a:rPr lang="pl-PL" dirty="0"/>
              <a:t>porównaj z wersją własną;</a:t>
            </a:r>
          </a:p>
          <a:p>
            <a:pPr lvl="1">
              <a:lnSpc>
                <a:spcPct val="150000"/>
              </a:lnSpc>
            </a:pPr>
            <a:r>
              <a:rPr lang="pl-PL" dirty="0"/>
              <a:t>zapisz co zmieniłeś i dlaczego.</a:t>
            </a:r>
          </a:p>
          <a:p>
            <a:pPr>
              <a:lnSpc>
                <a:spcPct val="150000"/>
              </a:lnSpc>
            </a:pPr>
            <a:r>
              <a:rPr lang="pl-PL" dirty="0"/>
              <a:t>Oczekiwany rezultat: załącznik z oryginałem, </a:t>
            </a:r>
            <a:r>
              <a:rPr lang="pl-PL" dirty="0" err="1"/>
              <a:t>promptem</a:t>
            </a:r>
            <a:r>
              <a:rPr lang="pl-PL" dirty="0"/>
              <a:t>, odpowiedzią SI i krótką analizą zmian.</a:t>
            </a:r>
          </a:p>
        </p:txBody>
      </p:sp>
    </p:spTree>
    <p:extLst>
      <p:ext uri="{BB962C8B-B14F-4D97-AF65-F5344CB8AC3E}">
        <p14:creationId xmlns:p14="http://schemas.microsoft.com/office/powerpoint/2010/main" val="2915720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5A999EB-F75B-4FE1-A570-8E4DC5974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Ćwiczenie B Wyszukiwanie literatury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64E258A-632E-4E2E-9888-BE7F3E12B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2603500"/>
            <a:ext cx="11055927" cy="34163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pl-PL" dirty="0"/>
              <a:t>Instrukcja: </a:t>
            </a:r>
          </a:p>
          <a:p>
            <a:pPr lvl="1">
              <a:lnSpc>
                <a:spcPct val="150000"/>
              </a:lnSpc>
            </a:pPr>
            <a:r>
              <a:rPr lang="pl-PL" dirty="0"/>
              <a:t>sformułuj </a:t>
            </a:r>
            <a:r>
              <a:rPr lang="pl-PL" dirty="0" err="1"/>
              <a:t>prompt</a:t>
            </a:r>
            <a:r>
              <a:rPr lang="pl-PL" dirty="0"/>
              <a:t> do wygenerowania listy artykułów; </a:t>
            </a:r>
          </a:p>
          <a:p>
            <a:pPr lvl="1">
              <a:lnSpc>
                <a:spcPct val="150000"/>
              </a:lnSpc>
            </a:pPr>
            <a:r>
              <a:rPr lang="pl-PL" dirty="0"/>
              <a:t>zweryfikuj każdy artykuł w bazie (DOI, czasopismo); </a:t>
            </a:r>
          </a:p>
          <a:p>
            <a:pPr lvl="1">
              <a:lnSpc>
                <a:spcPct val="150000"/>
              </a:lnSpc>
            </a:pPr>
            <a:r>
              <a:rPr lang="pl-PL" dirty="0"/>
              <a:t>opisz kryteria wyboru.</a:t>
            </a:r>
          </a:p>
          <a:p>
            <a:pPr>
              <a:lnSpc>
                <a:spcPct val="150000"/>
              </a:lnSpc>
            </a:pPr>
            <a:r>
              <a:rPr lang="pl-PL" dirty="0"/>
              <a:t>Oczekiwany rezultat: lista zweryfikowanych źródeł z krótkim uzasadnieniem.</a:t>
            </a:r>
          </a:p>
          <a:p>
            <a:pPr>
              <a:lnSpc>
                <a:spcPct val="150000"/>
              </a:lnSpc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568748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D3190FE-FD90-4110-B5AB-248D2EBAC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pl-PL" dirty="0"/>
              <a:t>Rubryka oceny umiejętności </a:t>
            </a:r>
            <a:r>
              <a:rPr lang="pl-PL" dirty="0" err="1"/>
              <a:t>promptowania</a:t>
            </a:r>
            <a:r>
              <a:rPr lang="pl-PL" dirty="0"/>
              <a:t> (propozycja)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95E91D2-467A-4D9A-B419-DEF138CA5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136" y="2603499"/>
            <a:ext cx="11139054" cy="37806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2000" dirty="0"/>
              <a:t>Precyzja </a:t>
            </a:r>
            <a:r>
              <a:rPr lang="pl-PL" sz="2000" dirty="0" err="1"/>
              <a:t>promptu</a:t>
            </a:r>
            <a:r>
              <a:rPr lang="pl-PL" sz="2000" dirty="0"/>
              <a:t> 40% — czy </a:t>
            </a:r>
            <a:r>
              <a:rPr lang="pl-PL" sz="2000" dirty="0" err="1"/>
              <a:t>prompt</a:t>
            </a:r>
            <a:r>
              <a:rPr lang="pl-PL" sz="2000" dirty="0"/>
              <a:t> zawiera Role, </a:t>
            </a:r>
            <a:r>
              <a:rPr lang="pl-PL" sz="2000" dirty="0" err="1"/>
              <a:t>Objective</a:t>
            </a:r>
            <a:r>
              <a:rPr lang="pl-PL" sz="2000" dirty="0"/>
              <a:t>, </a:t>
            </a:r>
            <a:r>
              <a:rPr lang="pl-PL" sz="2000" dirty="0" err="1"/>
              <a:t>Context</a:t>
            </a:r>
            <a:r>
              <a:rPr lang="pl-PL" sz="2000" dirty="0"/>
              <a:t>, </a:t>
            </a:r>
            <a:r>
              <a:rPr lang="pl-PL" sz="2000" dirty="0" err="1"/>
              <a:t>Constraints</a:t>
            </a:r>
            <a:r>
              <a:rPr lang="pl-PL" sz="2000" dirty="0"/>
              <a:t>.</a:t>
            </a:r>
          </a:p>
          <a:p>
            <a:pPr>
              <a:lnSpc>
                <a:spcPct val="150000"/>
              </a:lnSpc>
            </a:pPr>
            <a:r>
              <a:rPr lang="pl-PL" sz="2000" dirty="0"/>
              <a:t>Analiza wyników 30% — krytyczna ocena wygenerowanej treści i wprowadzone poprawki.</a:t>
            </a:r>
          </a:p>
          <a:p>
            <a:pPr>
              <a:lnSpc>
                <a:spcPct val="150000"/>
              </a:lnSpc>
            </a:pPr>
            <a:r>
              <a:rPr lang="pl-PL" sz="2000" dirty="0"/>
              <a:t>Etyka i ochrona danych 20% — unikanie danych wrażliwych, zgodność z RODO.</a:t>
            </a:r>
          </a:p>
          <a:p>
            <a:pPr>
              <a:lnSpc>
                <a:spcPct val="150000"/>
              </a:lnSpc>
            </a:pPr>
            <a:r>
              <a:rPr lang="pl-PL" sz="2000" dirty="0"/>
              <a:t>Dokumentacja 10% — kompletność załącznika z </a:t>
            </a:r>
            <a:r>
              <a:rPr lang="pl-PL" sz="2000" dirty="0" err="1"/>
              <a:t>promptami</a:t>
            </a:r>
            <a:r>
              <a:rPr lang="pl-PL" sz="2000" dirty="0"/>
              <a:t> i odpowiedziami.</a:t>
            </a:r>
          </a:p>
          <a:p>
            <a:pPr>
              <a:lnSpc>
                <a:spcPct val="150000"/>
              </a:lnSpc>
            </a:pPr>
            <a:endParaRPr lang="pl-PL" sz="2000" dirty="0"/>
          </a:p>
        </p:txBody>
      </p:sp>
    </p:spTree>
    <p:extLst>
      <p:ext uri="{BB962C8B-B14F-4D97-AF65-F5344CB8AC3E}">
        <p14:creationId xmlns:p14="http://schemas.microsoft.com/office/powerpoint/2010/main" val="2087049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Jon (sala konferencyjna)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255A495438C30439ECEB818AB31320C" ma:contentTypeVersion="15" ma:contentTypeDescription="Utwórz nowy dokument." ma:contentTypeScope="" ma:versionID="49ab8f23a8ddd0cb4178e45258df9b2b">
  <xsd:schema xmlns:xsd="http://www.w3.org/2001/XMLSchema" xmlns:xs="http://www.w3.org/2001/XMLSchema" xmlns:p="http://schemas.microsoft.com/office/2006/metadata/properties" xmlns:ns3="a651cea8-6211-4900-ba21-121ef9d0d1c4" xmlns:ns4="ba00fb62-43ee-46cb-82df-d7d452c7f9d0" targetNamespace="http://schemas.microsoft.com/office/2006/metadata/properties" ma:root="true" ma:fieldsID="05726c67fe5c106d10736f0d32bec9d5" ns3:_="" ns4:_="">
    <xsd:import namespace="a651cea8-6211-4900-ba21-121ef9d0d1c4"/>
    <xsd:import namespace="ba00fb62-43ee-46cb-82df-d7d452c7f9d0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SearchProperties" minOccurs="0"/>
                <xsd:element ref="ns4:_activity" minOccurs="0"/>
                <xsd:element ref="ns4:MediaServiceObjectDetectorVersion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SystemTags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51cea8-6211-4900-ba21-121ef9d0d1c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Udostępnianie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Udostępnione dla — szczegóły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krót wskazówki dotyczącej udostępniania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00fb62-43ee-46cb-82df-d7d452c7f9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a00fb62-43ee-46cb-82df-d7d452c7f9d0" xsi:nil="true"/>
  </documentManagement>
</p:properties>
</file>

<file path=customXml/itemProps1.xml><?xml version="1.0" encoding="utf-8"?>
<ds:datastoreItem xmlns:ds="http://schemas.openxmlformats.org/officeDocument/2006/customXml" ds:itemID="{E545C512-A12A-4C80-B94A-C39288DCE3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51cea8-6211-4900-ba21-121ef9d0d1c4"/>
    <ds:schemaRef ds:uri="ba00fb62-43ee-46cb-82df-d7d452c7f9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EAB134-649A-4A5F-A4A7-97BD28C82E7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C894B4-6B2F-4024-81DA-B8486AF98B6C}">
  <ds:schemaRefs>
    <ds:schemaRef ds:uri="a651cea8-6211-4900-ba21-121ef9d0d1c4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ba00fb62-43ee-46cb-82df-d7d452c7f9d0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Jon (konferencyjny)</Template>
  <TotalTime>14</TotalTime>
  <Words>651</Words>
  <Application>Microsoft Office PowerPoint</Application>
  <PresentationFormat>Panoramiczny</PresentationFormat>
  <Paragraphs>98</Paragraphs>
  <Slides>17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 3</vt:lpstr>
      <vt:lpstr>Jon (sala konferencyjna)</vt:lpstr>
      <vt:lpstr>Szkolenie</vt:lpstr>
      <vt:lpstr>Warsztat ROCKET i ćwiczenia z prompt engineering dla studentów</vt:lpstr>
      <vt:lpstr>Plan</vt:lpstr>
      <vt:lpstr>Prompt engineering w pracach dyplomowych — praktyczny warsztat</vt:lpstr>
      <vt:lpstr>Dlaczego jest to istotne?</vt:lpstr>
      <vt:lpstr>Zasady etyczne i RODO</vt:lpstr>
      <vt:lpstr>Rama ROCKET — skrót</vt:lpstr>
      <vt:lpstr>ROCKET szczegóły</vt:lpstr>
      <vt:lpstr>Szablony promptów - korekta</vt:lpstr>
      <vt:lpstr>Szablony promptów - wyszukiwanie literatury</vt:lpstr>
      <vt:lpstr>Ćwiczenia praktyczne</vt:lpstr>
      <vt:lpstr>Ocena i dokumentacja</vt:lpstr>
      <vt:lpstr>Przykład danych w załączniku </vt:lpstr>
      <vt:lpstr>Zestaw ćwiczeń z instrukcjami i oczekiwanymi rezultatami</vt:lpstr>
      <vt:lpstr>Ćwiczenie A Korekta akademicka</vt:lpstr>
      <vt:lpstr>Ćwiczenie B Wyszukiwanie literatury</vt:lpstr>
      <vt:lpstr>Rubryka oceny umiejętności promptowania (propozycja)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Szkolenie</dc:title>
  <dc:creator>Jagoda Dzida</dc:creator>
  <cp:lastModifiedBy>Jagoda Dzida</cp:lastModifiedBy>
  <cp:revision>1</cp:revision>
  <dcterms:created xsi:type="dcterms:W3CDTF">2025-11-30T13:32:11Z</dcterms:created>
  <dcterms:modified xsi:type="dcterms:W3CDTF">2025-12-17T23:17:07Z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0x0101004255A495438C30439ECEB818AB31320C</vt:lpwstr>
  </property>
</Properties>
</file>