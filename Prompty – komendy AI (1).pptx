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goda Dzida" userId="9f7582c9-e569-4130-8996-98f5d917dc30" providerId="ADAL" clId="{5CBCDB98-B920-413A-9489-2EDAAA311D91}"/>
    <pc:docChg chg="modSld">
      <pc:chgData name="Jagoda Dzida" userId="9f7582c9-e569-4130-8996-98f5d917dc30" providerId="ADAL" clId="{5CBCDB98-B920-413A-9489-2EDAAA311D91}" dt="2025-12-17T23:14:58.011" v="16" actId="20577"/>
      <pc:docMkLst>
        <pc:docMk/>
      </pc:docMkLst>
      <pc:sldChg chg="modSp">
        <pc:chgData name="Jagoda Dzida" userId="9f7582c9-e569-4130-8996-98f5d917dc30" providerId="ADAL" clId="{5CBCDB98-B920-413A-9489-2EDAAA311D91}" dt="2025-12-17T23:14:58.011" v="16" actId="20577"/>
        <pc:sldMkLst>
          <pc:docMk/>
          <pc:sldMk cId="481638451" sldId="260"/>
        </pc:sldMkLst>
        <pc:spChg chg="mod">
          <ac:chgData name="Jagoda Dzida" userId="9f7582c9-e569-4130-8996-98f5d917dc30" providerId="ADAL" clId="{5CBCDB98-B920-413A-9489-2EDAAA311D91}" dt="2025-12-17T23:14:58.011" v="16" actId="20577"/>
          <ac:spMkLst>
            <pc:docMk/>
            <pc:sldMk cId="481638451" sldId="260"/>
            <ac:spMk id="3" creationId="{2A5E3C34-9471-4FC7-B491-7BDC19FB783D}"/>
          </ac:spMkLst>
        </pc:spChg>
      </pc:sldChg>
    </pc:docChg>
  </pc:docChgLst>
  <pc:docChgLst>
    <pc:chgData name="Jagoda Dzida" userId="9f7582c9-e569-4130-8996-98f5d917dc30" providerId="ADAL" clId="{0D4B5008-7371-492C-B187-1C755DE004CC}"/>
    <pc:docChg chg="undo custSel addSld delSld modSld">
      <pc:chgData name="Jagoda Dzida" userId="9f7582c9-e569-4130-8996-98f5d917dc30" providerId="ADAL" clId="{0D4B5008-7371-492C-B187-1C755DE004CC}" dt="2025-11-30T13:31:51.564" v="279" actId="2696"/>
      <pc:docMkLst>
        <pc:docMk/>
      </pc:docMkLst>
      <pc:sldChg chg="modSp add">
        <pc:chgData name="Jagoda Dzida" userId="9f7582c9-e569-4130-8996-98f5d917dc30" providerId="ADAL" clId="{0D4B5008-7371-492C-B187-1C755DE004CC}" dt="2025-11-30T13:28:32.094" v="216" actId="5793"/>
        <pc:sldMkLst>
          <pc:docMk/>
          <pc:sldMk cId="1796991021" sldId="258"/>
        </pc:sldMkLst>
        <pc:spChg chg="mod">
          <ac:chgData name="Jagoda Dzida" userId="9f7582c9-e569-4130-8996-98f5d917dc30" providerId="ADAL" clId="{0D4B5008-7371-492C-B187-1C755DE004CC}" dt="2025-11-30T13:24:43.867" v="35" actId="20577"/>
          <ac:spMkLst>
            <pc:docMk/>
            <pc:sldMk cId="1796991021" sldId="258"/>
            <ac:spMk id="2" creationId="{812E9E42-1011-4110-9580-D953135E10C5}"/>
          </ac:spMkLst>
        </pc:spChg>
        <pc:spChg chg="mod">
          <ac:chgData name="Jagoda Dzida" userId="9f7582c9-e569-4130-8996-98f5d917dc30" providerId="ADAL" clId="{0D4B5008-7371-492C-B187-1C755DE004CC}" dt="2025-11-30T13:28:32.094" v="216" actId="5793"/>
          <ac:spMkLst>
            <pc:docMk/>
            <pc:sldMk cId="1796991021" sldId="258"/>
            <ac:spMk id="3" creationId="{168CE5C3-2507-4E2B-BA2E-D4A9A29A098D}"/>
          </ac:spMkLst>
        </pc:spChg>
      </pc:sldChg>
      <pc:sldChg chg="modSp add">
        <pc:chgData name="Jagoda Dzida" userId="9f7582c9-e569-4130-8996-98f5d917dc30" providerId="ADAL" clId="{0D4B5008-7371-492C-B187-1C755DE004CC}" dt="2025-11-30T13:29:33.754" v="244"/>
        <pc:sldMkLst>
          <pc:docMk/>
          <pc:sldMk cId="3476720724" sldId="259"/>
        </pc:sldMkLst>
        <pc:spChg chg="mod">
          <ac:chgData name="Jagoda Dzida" userId="9f7582c9-e569-4130-8996-98f5d917dc30" providerId="ADAL" clId="{0D4B5008-7371-492C-B187-1C755DE004CC}" dt="2025-11-30T13:29:33.754" v="244"/>
          <ac:spMkLst>
            <pc:docMk/>
            <pc:sldMk cId="3476720724" sldId="259"/>
            <ac:spMk id="2" creationId="{C960DBC0-35E7-47F4-ABC7-33F905182E83}"/>
          </ac:spMkLst>
        </pc:spChg>
        <pc:spChg chg="mod">
          <ac:chgData name="Jagoda Dzida" userId="9f7582c9-e569-4130-8996-98f5d917dc30" providerId="ADAL" clId="{0D4B5008-7371-492C-B187-1C755DE004CC}" dt="2025-11-30T13:29:23.618" v="243" actId="20577"/>
          <ac:spMkLst>
            <pc:docMk/>
            <pc:sldMk cId="3476720724" sldId="259"/>
            <ac:spMk id="3" creationId="{E3C10BC5-CAB7-4CC4-90FF-12132FF59A42}"/>
          </ac:spMkLst>
        </pc:spChg>
      </pc:sldChg>
      <pc:sldChg chg="modSp add">
        <pc:chgData name="Jagoda Dzida" userId="9f7582c9-e569-4130-8996-98f5d917dc30" providerId="ADAL" clId="{0D4B5008-7371-492C-B187-1C755DE004CC}" dt="2025-11-30T13:30:11.843" v="258" actId="2710"/>
        <pc:sldMkLst>
          <pc:docMk/>
          <pc:sldMk cId="481638451" sldId="260"/>
        </pc:sldMkLst>
        <pc:spChg chg="mod">
          <ac:chgData name="Jagoda Dzida" userId="9f7582c9-e569-4130-8996-98f5d917dc30" providerId="ADAL" clId="{0D4B5008-7371-492C-B187-1C755DE004CC}" dt="2025-11-30T13:29:43.562" v="249" actId="27636"/>
          <ac:spMkLst>
            <pc:docMk/>
            <pc:sldMk cId="481638451" sldId="260"/>
            <ac:spMk id="2" creationId="{032FEFF3-B334-4544-A61F-68BB61F4CE40}"/>
          </ac:spMkLst>
        </pc:spChg>
        <pc:spChg chg="mod">
          <ac:chgData name="Jagoda Dzida" userId="9f7582c9-e569-4130-8996-98f5d917dc30" providerId="ADAL" clId="{0D4B5008-7371-492C-B187-1C755DE004CC}" dt="2025-11-30T13:30:11.843" v="258" actId="2710"/>
          <ac:spMkLst>
            <pc:docMk/>
            <pc:sldMk cId="481638451" sldId="260"/>
            <ac:spMk id="3" creationId="{2A5E3C34-9471-4FC7-B491-7BDC19FB783D}"/>
          </ac:spMkLst>
        </pc:spChg>
      </pc:sldChg>
      <pc:sldChg chg="modSp add">
        <pc:chgData name="Jagoda Dzida" userId="9f7582c9-e569-4130-8996-98f5d917dc30" providerId="ADAL" clId="{0D4B5008-7371-492C-B187-1C755DE004CC}" dt="2025-11-30T13:30:50.205" v="277" actId="27636"/>
        <pc:sldMkLst>
          <pc:docMk/>
          <pc:sldMk cId="575139142" sldId="261"/>
        </pc:sldMkLst>
        <pc:spChg chg="mod">
          <ac:chgData name="Jagoda Dzida" userId="9f7582c9-e569-4130-8996-98f5d917dc30" providerId="ADAL" clId="{0D4B5008-7371-492C-B187-1C755DE004CC}" dt="2025-11-30T13:30:24.632" v="263" actId="27636"/>
          <ac:spMkLst>
            <pc:docMk/>
            <pc:sldMk cId="575139142" sldId="261"/>
            <ac:spMk id="2" creationId="{9DE026A6-019D-48B6-B394-CF3963437456}"/>
          </ac:spMkLst>
        </pc:spChg>
        <pc:spChg chg="mod">
          <ac:chgData name="Jagoda Dzida" userId="9f7582c9-e569-4130-8996-98f5d917dc30" providerId="ADAL" clId="{0D4B5008-7371-492C-B187-1C755DE004CC}" dt="2025-11-30T13:30:50.205" v="277" actId="27636"/>
          <ac:spMkLst>
            <pc:docMk/>
            <pc:sldMk cId="575139142" sldId="261"/>
            <ac:spMk id="3" creationId="{543841F3-427D-4439-9224-34CCD3D8079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E0307-B85C-446A-8EF0-0407D435D787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9ACE-9343-4EBE-B5CA-AEA240A1DC53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0F7B-89C5-4DF7-A309-6263220147D4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95DE-FD64-4606-AE61-EC1136867CC6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BBD-30FE-4CF1-900A-0C45149F8AF8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5F7F-3E81-4C65-A4D1-CB62D5B9DB91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ECC86-1672-4627-AEFE-EC5485C73905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CB01F-D966-4C62-B900-0BE008A90C98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A0EA-7DC7-4964-BB97-B173EF3B859A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862E7-95FA-4FC4-9EC5-DDBFA8DC7417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987F2-A784-4F72-BB57-0E9EACDE722E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D51E-4B19-444E-85C0-DBD7EB6263F4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255A-4AD5-4D3E-9A0A-689DA3BA976C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AD15-87AC-45B2-9EE5-8D165AF83CD7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40CCD-F0D6-4CC2-A4C8-2D7D0D875F02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E2CC-454D-4466-AC55-B86DA0A87BAE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B647B1BF-4039-460D-A637-65428CBD720E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F52CC-F3D9-41D4-BCE4-C208E61A3F31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4A47F3-2F1A-4306-9D4B-530FF0AE71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Prompty</a:t>
            </a:r>
            <a:r>
              <a:rPr lang="pl-PL" dirty="0"/>
              <a:t> – komendy AI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81AB337-A8A4-4784-A1C6-105BAD399D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W pracach dyplomowych</a:t>
            </a:r>
          </a:p>
        </p:txBody>
      </p:sp>
    </p:spTree>
    <p:extLst>
      <p:ext uri="{BB962C8B-B14F-4D97-AF65-F5344CB8AC3E}">
        <p14:creationId xmlns:p14="http://schemas.microsoft.com/office/powerpoint/2010/main" val="1819150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E5199F-05E2-429B-B4D3-F993734DB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Zasada „ROCKET”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8E53A6D-7749-41C0-8AC8-1C16799EE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36873"/>
            <a:ext cx="11006051" cy="4329934"/>
          </a:xfrm>
        </p:spPr>
        <p:txBody>
          <a:bodyPr>
            <a:normAutofit fontScale="92500" lnSpcReduction="10000"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R — Role </a:t>
            </a:r>
            <a:r>
              <a:rPr lang="pl-PL" dirty="0"/>
              <a:t>(rola) </a:t>
            </a:r>
            <a:r>
              <a:rPr lang="pl-PL" dirty="0">
                <a:sym typeface="Wingdings" panose="05000000000000000000" pitchFamily="2" charset="2"/>
              </a:rPr>
              <a:t></a:t>
            </a:r>
            <a:r>
              <a:rPr lang="pl-PL" dirty="0"/>
              <a:t> określ rolę modelu </a:t>
            </a:r>
          </a:p>
          <a:p>
            <a:pPr lvl="1"/>
            <a:r>
              <a:rPr lang="pl-PL" dirty="0"/>
              <a:t>np. „Zachowaj się jak redaktor naukowy”</a:t>
            </a:r>
          </a:p>
          <a:p>
            <a:r>
              <a:rPr lang="pl-PL" b="1" dirty="0">
                <a:solidFill>
                  <a:srgbClr val="FF0000"/>
                </a:solidFill>
              </a:rPr>
              <a:t>O — </a:t>
            </a:r>
            <a:r>
              <a:rPr lang="pl-PL" b="1" dirty="0" err="1">
                <a:solidFill>
                  <a:srgbClr val="FF0000"/>
                </a:solidFill>
              </a:rPr>
              <a:t>Objective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dirty="0">
                <a:sym typeface="Wingdings" panose="05000000000000000000" pitchFamily="2" charset="2"/>
              </a:rPr>
              <a:t> </a:t>
            </a:r>
            <a:r>
              <a:rPr lang="pl-PL" dirty="0"/>
              <a:t>określ cel</a:t>
            </a:r>
          </a:p>
          <a:p>
            <a:pPr lvl="1"/>
            <a:r>
              <a:rPr lang="pl-PL" dirty="0"/>
              <a:t> np. „Skróć akapit do 120 słów, zachowując argumentację”</a:t>
            </a:r>
          </a:p>
          <a:p>
            <a:r>
              <a:rPr lang="pl-PL" b="1" dirty="0">
                <a:solidFill>
                  <a:srgbClr val="FF0000"/>
                </a:solidFill>
              </a:rPr>
              <a:t>C — </a:t>
            </a:r>
            <a:r>
              <a:rPr lang="pl-PL" b="1" dirty="0" err="1">
                <a:solidFill>
                  <a:srgbClr val="FF0000"/>
                </a:solidFill>
              </a:rPr>
              <a:t>Context</a:t>
            </a:r>
            <a:r>
              <a:rPr lang="pl-PL" b="1" dirty="0">
                <a:solidFill>
                  <a:srgbClr val="FF0000"/>
                </a:solidFill>
              </a:rPr>
              <a:t>  </a:t>
            </a:r>
            <a:r>
              <a:rPr lang="pl-PL" dirty="0">
                <a:sym typeface="Wingdings" panose="05000000000000000000" pitchFamily="2" charset="2"/>
              </a:rPr>
              <a:t> </a:t>
            </a:r>
            <a:r>
              <a:rPr lang="pl-PL" dirty="0"/>
              <a:t>podaj kontekst i fragmenty źródłowe </a:t>
            </a:r>
          </a:p>
          <a:p>
            <a:pPr marL="0" indent="0">
              <a:buNone/>
            </a:pPr>
            <a:r>
              <a:rPr lang="pl-PL" dirty="0"/>
              <a:t>	np. fragment pracy, hipoteza, dane</a:t>
            </a:r>
          </a:p>
          <a:p>
            <a:r>
              <a:rPr lang="pl-PL" b="1" dirty="0">
                <a:solidFill>
                  <a:srgbClr val="FF0000"/>
                </a:solidFill>
              </a:rPr>
              <a:t>K — Knowledge  </a:t>
            </a:r>
            <a:r>
              <a:rPr lang="pl-PL" dirty="0">
                <a:sym typeface="Wingdings" panose="05000000000000000000" pitchFamily="2" charset="2"/>
              </a:rPr>
              <a:t></a:t>
            </a:r>
            <a:r>
              <a:rPr lang="pl-PL" dirty="0"/>
              <a:t> wskaż ograniczenia i wymagania merytoryczne</a:t>
            </a:r>
          </a:p>
          <a:p>
            <a:pPr lvl="1"/>
            <a:r>
              <a:rPr lang="pl-PL" dirty="0"/>
              <a:t>np. „użyj literatury z lat 2018–2024, unikaj źródeł popularnonaukowych”</a:t>
            </a:r>
          </a:p>
          <a:p>
            <a:r>
              <a:rPr lang="pl-PL" b="1" dirty="0">
                <a:solidFill>
                  <a:srgbClr val="FF0000"/>
                </a:solidFill>
              </a:rPr>
              <a:t>E — </a:t>
            </a:r>
            <a:r>
              <a:rPr lang="pl-PL" b="1" dirty="0" err="1">
                <a:solidFill>
                  <a:srgbClr val="FF0000"/>
                </a:solidFill>
              </a:rPr>
              <a:t>Examples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dirty="0">
                <a:sym typeface="Wingdings" panose="05000000000000000000" pitchFamily="2" charset="2"/>
              </a:rPr>
              <a:t></a:t>
            </a:r>
            <a:r>
              <a:rPr lang="pl-PL" dirty="0"/>
              <a:t> daj przykład oczekiwanego stylu lub formatu</a:t>
            </a:r>
          </a:p>
          <a:p>
            <a:pPr lvl="1"/>
            <a:r>
              <a:rPr lang="pl-PL" dirty="0"/>
              <a:t>np. wzór cytowania, przykładowy akapit</a:t>
            </a:r>
          </a:p>
          <a:p>
            <a:r>
              <a:rPr lang="pl-PL" b="1" dirty="0">
                <a:solidFill>
                  <a:srgbClr val="FF0000"/>
                </a:solidFill>
              </a:rPr>
              <a:t>T — Tone and </a:t>
            </a:r>
            <a:r>
              <a:rPr lang="pl-PL" b="1" dirty="0" err="1">
                <a:solidFill>
                  <a:srgbClr val="FF0000"/>
                </a:solidFill>
              </a:rPr>
              <a:t>constraints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dirty="0">
                <a:sym typeface="Wingdings" panose="05000000000000000000" pitchFamily="2" charset="2"/>
              </a:rPr>
              <a:t></a:t>
            </a:r>
            <a:r>
              <a:rPr lang="pl-PL" dirty="0"/>
              <a:t> określ ton, długość, format i zakazy</a:t>
            </a:r>
          </a:p>
          <a:p>
            <a:pPr lvl="1"/>
            <a:r>
              <a:rPr lang="pl-PL" dirty="0"/>
              <a:t>np. „formalny, 3 akapity, nie generuj nowych źródeł”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6860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2E9E42-1011-4110-9580-D953135E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Szablony </a:t>
            </a:r>
            <a:r>
              <a:rPr lang="pl-PL" dirty="0" err="1"/>
              <a:t>promptów</a:t>
            </a:r>
            <a:r>
              <a:rPr lang="pl-PL" dirty="0"/>
              <a:t> i przykłady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68CE5C3-2507-4E2B-BA2E-D4A9A29A0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111433"/>
            <a:ext cx="11770822" cy="4455622"/>
          </a:xfrm>
        </p:spPr>
        <p:txBody>
          <a:bodyPr numCol="2">
            <a:normAutofit/>
          </a:bodyPr>
          <a:lstStyle/>
          <a:p>
            <a:pPr marL="457200" indent="-457200">
              <a:buAutoNum type="arabicPeriod"/>
            </a:pPr>
            <a:r>
              <a:rPr lang="pl-PL" dirty="0"/>
              <a:t>Korekta językowa</a:t>
            </a:r>
          </a:p>
          <a:p>
            <a:r>
              <a:rPr lang="pl-PL" dirty="0"/>
              <a:t>Szablon: </a:t>
            </a:r>
          </a:p>
          <a:p>
            <a:pPr marL="0" indent="0">
              <a:buNone/>
            </a:pPr>
            <a:r>
              <a:rPr lang="pl-PL" dirty="0"/>
              <a:t>Role: redaktor akademicki;</a:t>
            </a:r>
          </a:p>
          <a:p>
            <a:pPr marL="0" indent="0">
              <a:buNone/>
            </a:pPr>
            <a:r>
              <a:rPr lang="pl-PL" dirty="0" err="1"/>
              <a:t>Objective</a:t>
            </a:r>
            <a:r>
              <a:rPr lang="pl-PL" dirty="0"/>
              <a:t>: popraw błędy;</a:t>
            </a:r>
          </a:p>
          <a:p>
            <a:pPr marL="0" indent="0">
              <a:buNone/>
            </a:pPr>
            <a:r>
              <a:rPr lang="pl-PL" dirty="0" err="1"/>
              <a:t>Context</a:t>
            </a:r>
            <a:r>
              <a:rPr lang="pl-PL" dirty="0"/>
              <a:t>: [wklej akapit];</a:t>
            </a:r>
          </a:p>
          <a:p>
            <a:pPr marL="0" indent="0">
              <a:buNone/>
            </a:pPr>
            <a:r>
              <a:rPr lang="pl-PL" dirty="0"/>
              <a:t>Knowledge: brak;</a:t>
            </a:r>
          </a:p>
          <a:p>
            <a:pPr marL="0" indent="0">
              <a:buNone/>
            </a:pPr>
            <a:r>
              <a:rPr lang="pl-PL" dirty="0" err="1"/>
              <a:t>Examples</a:t>
            </a:r>
            <a:r>
              <a:rPr lang="pl-PL" dirty="0"/>
              <a:t>: brak;</a:t>
            </a:r>
          </a:p>
          <a:p>
            <a:pPr marL="0" indent="0">
              <a:buNone/>
            </a:pPr>
            <a:r>
              <a:rPr lang="pl-PL" dirty="0"/>
              <a:t>Tone and </a:t>
            </a:r>
            <a:r>
              <a:rPr lang="pl-PL" dirty="0" err="1"/>
              <a:t>constraints</a:t>
            </a:r>
            <a:r>
              <a:rPr lang="pl-PL" dirty="0"/>
              <a:t>: ton formalny, nie zmieniaj treści merytorycznej.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r>
              <a:rPr lang="pl-PL" dirty="0"/>
              <a:t>Przykład:</a:t>
            </a:r>
          </a:p>
          <a:p>
            <a:pPr marL="0" indent="0">
              <a:buNone/>
            </a:pPr>
            <a:r>
              <a:rPr lang="pl-PL" dirty="0"/>
              <a:t>„Zachowaj się jak redaktor akademicki. Popraw błędy gramatyczne i stylistyczne w poniższym akapicie, nie zmieniając treści merytorycznej. Zachowaj formalny styl.”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96991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60DBC0-35E7-47F4-ABC7-33F90518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Szablony </a:t>
            </a:r>
            <a:r>
              <a:rPr lang="pl-PL" dirty="0" err="1"/>
              <a:t>promptów</a:t>
            </a:r>
            <a:r>
              <a:rPr lang="pl-PL" dirty="0"/>
              <a:t> i przykłady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3C10BC5-CAB7-4CC4-90FF-12132FF59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2336872"/>
            <a:ext cx="11371811" cy="4363185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pl-PL" dirty="0"/>
              <a:t>2. Wyszukiwanie literatury</a:t>
            </a:r>
          </a:p>
          <a:p>
            <a:r>
              <a:rPr lang="pl-PL" dirty="0"/>
              <a:t>Szablon: </a:t>
            </a:r>
          </a:p>
          <a:p>
            <a:pPr marL="0" indent="0">
              <a:buNone/>
            </a:pPr>
            <a:r>
              <a:rPr lang="pl-PL" dirty="0"/>
              <a:t>Role: asystent bibliograficzny;</a:t>
            </a:r>
          </a:p>
          <a:p>
            <a:pPr marL="0" indent="0">
              <a:buNone/>
            </a:pPr>
            <a:r>
              <a:rPr lang="pl-PL" dirty="0" err="1"/>
              <a:t>Objective</a:t>
            </a:r>
            <a:r>
              <a:rPr lang="pl-PL" dirty="0"/>
              <a:t>: zaproponuj 10 artykułów;</a:t>
            </a:r>
          </a:p>
          <a:p>
            <a:pPr marL="0" indent="0">
              <a:buNone/>
            </a:pPr>
            <a:r>
              <a:rPr lang="pl-PL" dirty="0" err="1"/>
              <a:t>Context</a:t>
            </a:r>
            <a:r>
              <a:rPr lang="pl-PL" dirty="0"/>
              <a:t>: temat i zakres czasowy;</a:t>
            </a:r>
          </a:p>
          <a:p>
            <a:pPr marL="0" indent="0">
              <a:buNone/>
            </a:pPr>
            <a:r>
              <a:rPr lang="pl-PL" dirty="0"/>
              <a:t>Knowledge: preferowane bazy;</a:t>
            </a:r>
          </a:p>
          <a:p>
            <a:pPr marL="0" indent="0">
              <a:buNone/>
            </a:pPr>
            <a:r>
              <a:rPr lang="pl-PL" dirty="0" err="1"/>
              <a:t>Examples</a:t>
            </a:r>
            <a:r>
              <a:rPr lang="pl-PL" dirty="0"/>
              <a:t>: brak;</a:t>
            </a:r>
          </a:p>
          <a:p>
            <a:pPr marL="0" indent="0">
              <a:buNone/>
            </a:pPr>
            <a:r>
              <a:rPr lang="pl-PL" dirty="0"/>
              <a:t>Tone and </a:t>
            </a:r>
            <a:r>
              <a:rPr lang="pl-PL" dirty="0" err="1"/>
              <a:t>constraints</a:t>
            </a:r>
            <a:r>
              <a:rPr lang="pl-PL" dirty="0"/>
              <a:t>: podaj DOI lub linki do baz naukowych; </a:t>
            </a:r>
            <a:r>
              <a:rPr lang="pl-PL" dirty="0" err="1"/>
              <a:t>Output</a:t>
            </a:r>
            <a:r>
              <a:rPr lang="pl-PL" dirty="0"/>
              <a:t>: lista w formacie APA.</a:t>
            </a:r>
          </a:p>
          <a:p>
            <a:endParaRPr lang="pl-PL" dirty="0"/>
          </a:p>
          <a:p>
            <a:r>
              <a:rPr lang="pl-PL" dirty="0"/>
              <a:t>Przykład: „Jako asystent bibliograficzny, podaj 10 recenzowanych artykułów o wpływie mediów społecznościowych na zdrowie psychiczne z lat 2019–2024; podaj DOI i krótkie uzasadnienie przydatności każdego źródła.”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76720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2FEFF3-B334-4544-A61F-68BB61F4C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Ćwiczenia i ocena umiejętności </a:t>
            </a:r>
            <a:r>
              <a:rPr lang="pl-PL" dirty="0" err="1"/>
              <a:t>promptowania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A5E3C34-9471-4FC7-B491-7BDC19FB7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425483" cy="421355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l-PL" dirty="0"/>
              <a:t>Warsztat 1: formułowanie </a:t>
            </a:r>
            <a:r>
              <a:rPr lang="pl-PL" dirty="0" err="1"/>
              <a:t>promptu</a:t>
            </a:r>
            <a:r>
              <a:rPr lang="pl-PL" dirty="0"/>
              <a:t> ROCKET dla korekty 3 akapitów; porównanie wyników i dyskusja o zmianach.</a:t>
            </a:r>
          </a:p>
          <a:p>
            <a:pPr>
              <a:lnSpc>
                <a:spcPct val="150000"/>
              </a:lnSpc>
            </a:pPr>
            <a:r>
              <a:rPr lang="pl-PL" dirty="0"/>
              <a:t>Warsztat 2: zadanie techniczne — wygeneruj </a:t>
            </a:r>
            <a:r>
              <a:rPr lang="pl-PL" dirty="0" err="1"/>
              <a:t>prompt</a:t>
            </a:r>
            <a:r>
              <a:rPr lang="pl-PL" dirty="0"/>
              <a:t>, przetestuj, opisz testy i poprawki.</a:t>
            </a:r>
          </a:p>
          <a:p>
            <a:pPr>
              <a:lnSpc>
                <a:spcPct val="150000"/>
              </a:lnSpc>
            </a:pPr>
            <a:r>
              <a:rPr lang="pl-PL" dirty="0"/>
              <a:t>Zadanie domowe: przygotuj załącznik „Wykorzystanie SI” zawierający 3 </a:t>
            </a:r>
            <a:r>
              <a:rPr lang="pl-PL" dirty="0" err="1"/>
              <a:t>prompty</a:t>
            </a:r>
            <a:r>
              <a:rPr lang="pl-PL" dirty="0"/>
              <a:t>, wygenerowane odpowiedzi i krótką analizę, co </a:t>
            </a:r>
            <a:r>
              <a:rPr lang="pl-PL"/>
              <a:t>zostało zmodyfikowane</a:t>
            </a:r>
            <a:endParaRPr lang="pl-PL" dirty="0"/>
          </a:p>
          <a:p>
            <a:pPr marL="0" indent="0">
              <a:lnSpc>
                <a:spcPct val="150000"/>
              </a:lnSpc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81638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E026A6-019D-48B6-B394-CF3963437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Rubryka oceny umiejętności </a:t>
            </a:r>
            <a:r>
              <a:rPr lang="pl-PL" dirty="0" err="1"/>
              <a:t>promptowania</a:t>
            </a:r>
            <a:r>
              <a:rPr lang="pl-PL" dirty="0"/>
              <a:t> (przykład)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43841F3-427D-4439-9224-34CCD3D80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7" y="2336873"/>
            <a:ext cx="10673542" cy="421355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pl-PL" dirty="0"/>
              <a:t>Precyzja </a:t>
            </a:r>
            <a:r>
              <a:rPr lang="pl-PL" dirty="0" err="1"/>
              <a:t>promptu</a:t>
            </a:r>
            <a:r>
              <a:rPr lang="pl-PL" dirty="0"/>
              <a:t> 40% — czy </a:t>
            </a:r>
            <a:r>
              <a:rPr lang="pl-PL" dirty="0" err="1"/>
              <a:t>prompt</a:t>
            </a:r>
            <a:r>
              <a:rPr lang="pl-PL" dirty="0"/>
              <a:t> zawiera Role, </a:t>
            </a:r>
            <a:r>
              <a:rPr lang="pl-PL" dirty="0" err="1"/>
              <a:t>Objective</a:t>
            </a:r>
            <a:r>
              <a:rPr lang="pl-PL" dirty="0"/>
              <a:t>, </a:t>
            </a:r>
            <a:r>
              <a:rPr lang="pl-PL" dirty="0" err="1"/>
              <a:t>Context</a:t>
            </a:r>
            <a:r>
              <a:rPr lang="pl-PL" dirty="0"/>
              <a:t>, </a:t>
            </a:r>
            <a:r>
              <a:rPr lang="pl-PL" dirty="0" err="1"/>
              <a:t>Constraints</a:t>
            </a:r>
            <a:r>
              <a:rPr lang="pl-PL" dirty="0"/>
              <a:t>.</a:t>
            </a:r>
          </a:p>
          <a:p>
            <a:pPr>
              <a:lnSpc>
                <a:spcPct val="150000"/>
              </a:lnSpc>
            </a:pPr>
            <a:r>
              <a:rPr lang="pl-PL" dirty="0"/>
              <a:t>Etyka i ochrona danych 20% — czy student unikał danych wrażliwych i stosował RODO.</a:t>
            </a:r>
          </a:p>
          <a:p>
            <a:pPr>
              <a:lnSpc>
                <a:spcPct val="150000"/>
              </a:lnSpc>
            </a:pPr>
            <a:r>
              <a:rPr lang="pl-PL" dirty="0"/>
              <a:t>Analiza wyników 30% — czy student krytycznie ocenił wygenerowane treści i wprowadził poprawki.</a:t>
            </a:r>
          </a:p>
          <a:p>
            <a:pPr>
              <a:lnSpc>
                <a:spcPct val="150000"/>
              </a:lnSpc>
            </a:pPr>
            <a:r>
              <a:rPr lang="pl-PL" dirty="0"/>
              <a:t>Dokumentacja 10% — kompletność załącznika z </a:t>
            </a:r>
            <a:r>
              <a:rPr lang="pl-PL" dirty="0" err="1"/>
              <a:t>promptami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513914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a00fb62-43ee-46cb-82df-d7d452c7f9d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255A495438C30439ECEB818AB31320C" ma:contentTypeVersion="15" ma:contentTypeDescription="Utwórz nowy dokument." ma:contentTypeScope="" ma:versionID="49ab8f23a8ddd0cb4178e45258df9b2b">
  <xsd:schema xmlns:xsd="http://www.w3.org/2001/XMLSchema" xmlns:xs="http://www.w3.org/2001/XMLSchema" xmlns:p="http://schemas.microsoft.com/office/2006/metadata/properties" xmlns:ns3="a651cea8-6211-4900-ba21-121ef9d0d1c4" xmlns:ns4="ba00fb62-43ee-46cb-82df-d7d452c7f9d0" targetNamespace="http://schemas.microsoft.com/office/2006/metadata/properties" ma:root="true" ma:fieldsID="05726c67fe5c106d10736f0d32bec9d5" ns3:_="" ns4:_="">
    <xsd:import namespace="a651cea8-6211-4900-ba21-121ef9d0d1c4"/>
    <xsd:import namespace="ba00fb62-43ee-46cb-82df-d7d452c7f9d0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SystemTags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1cea8-6211-4900-ba21-121ef9d0d1c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Udostępnianie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Udostępnione dla — szczegóły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krót wskazówki dotyczącej udostępniania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00fb62-43ee-46cb-82df-d7d452c7f9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BCEF75-0C7B-43B7-8DBA-B45736C8B0A2}">
  <ds:schemaRefs>
    <ds:schemaRef ds:uri="a651cea8-6211-4900-ba21-121ef9d0d1c4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ba00fb62-43ee-46cb-82df-d7d452c7f9d0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240B4A2-8E5F-4D5E-8FBE-0349DCA02B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377C75-8AC2-4F46-83CE-CB1DDF7B7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51cea8-6211-4900-ba21-121ef9d0d1c4"/>
    <ds:schemaRef ds:uri="ba00fb62-43ee-46cb-82df-d7d452c7f9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12</TotalTime>
  <Words>415</Words>
  <Application>Microsoft Office PowerPoint</Application>
  <PresentationFormat>Panoramiczny</PresentationFormat>
  <Paragraphs>48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</vt:lpstr>
      <vt:lpstr>Berlin</vt:lpstr>
      <vt:lpstr>Prompty – komendy AI</vt:lpstr>
      <vt:lpstr>Zasada „ROCKET”</vt:lpstr>
      <vt:lpstr>Szablony promptów i przykłady</vt:lpstr>
      <vt:lpstr>Szablony promptów i przykłady</vt:lpstr>
      <vt:lpstr>Ćwiczenia i ocena umiejętności promptowania</vt:lpstr>
      <vt:lpstr>Rubryka oceny umiejętności promptowania (przykład)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Prompty – komendy AI</dc:title>
  <dc:creator>Jagoda Dzida</dc:creator>
  <cp:lastModifiedBy>Jagoda Dzida</cp:lastModifiedBy>
  <cp:revision>1</cp:revision>
  <dcterms:created xsi:type="dcterms:W3CDTF">2025-11-30T13:19:48Z</dcterms:created>
  <dcterms:modified xsi:type="dcterms:W3CDTF">2025-12-17T23:14:58Z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0x0101004255A495438C30439ECEB818AB31320C</vt:lpwstr>
  </property>
</Properties>
</file>